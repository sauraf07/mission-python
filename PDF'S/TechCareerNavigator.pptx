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1645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B2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C39A"/>
          </a:solidFill>
          <a:ln/>
        </p:spPr>
      </p:sp>
      <p:sp>
        <p:nvSpPr>
          <p:cNvPr id="3" name="Shape 1"/>
          <p:cNvSpPr/>
          <p:nvPr/>
        </p:nvSpPr>
        <p:spPr>
          <a:xfrm>
            <a:off x="6858000" y="274320"/>
            <a:ext cx="164592" cy="164592"/>
          </a:xfrm>
          <a:prstGeom prst="ellipse">
            <a:avLst/>
          </a:prstGeom>
          <a:solidFill>
            <a:srgbClr val="02C39A">
              <a:alpha val="40000"/>
            </a:srgbClr>
          </a:solidFill>
          <a:ln/>
        </p:spPr>
      </p:sp>
      <p:sp>
        <p:nvSpPr>
          <p:cNvPr id="4" name="Shape 2"/>
          <p:cNvSpPr/>
          <p:nvPr/>
        </p:nvSpPr>
        <p:spPr>
          <a:xfrm>
            <a:off x="7269480" y="274320"/>
            <a:ext cx="164592" cy="164592"/>
          </a:xfrm>
          <a:prstGeom prst="ellipse">
            <a:avLst/>
          </a:prstGeom>
          <a:solidFill>
            <a:srgbClr val="02C39A">
              <a:alpha val="40000"/>
            </a:srgbClr>
          </a:solidFill>
          <a:ln/>
        </p:spPr>
      </p:sp>
      <p:sp>
        <p:nvSpPr>
          <p:cNvPr id="5" name="Shape 3"/>
          <p:cNvSpPr/>
          <p:nvPr/>
        </p:nvSpPr>
        <p:spPr>
          <a:xfrm>
            <a:off x="7680960" y="274320"/>
            <a:ext cx="164592" cy="164592"/>
          </a:xfrm>
          <a:prstGeom prst="ellipse">
            <a:avLst/>
          </a:prstGeom>
          <a:solidFill>
            <a:srgbClr val="02C39A">
              <a:alpha val="40000"/>
            </a:srgbClr>
          </a:solidFill>
          <a:ln/>
        </p:spPr>
      </p:sp>
      <p:sp>
        <p:nvSpPr>
          <p:cNvPr id="6" name="Shape 4"/>
          <p:cNvSpPr/>
          <p:nvPr/>
        </p:nvSpPr>
        <p:spPr>
          <a:xfrm>
            <a:off x="8092440" y="274320"/>
            <a:ext cx="164592" cy="164592"/>
          </a:xfrm>
          <a:prstGeom prst="ellipse">
            <a:avLst/>
          </a:prstGeom>
          <a:solidFill>
            <a:srgbClr val="02C39A">
              <a:alpha val="40000"/>
            </a:srgbClr>
          </a:solidFill>
          <a:ln/>
        </p:spPr>
      </p:sp>
      <p:sp>
        <p:nvSpPr>
          <p:cNvPr id="7" name="Shape 5"/>
          <p:cNvSpPr/>
          <p:nvPr/>
        </p:nvSpPr>
        <p:spPr>
          <a:xfrm>
            <a:off x="8503920" y="274320"/>
            <a:ext cx="164592" cy="164592"/>
          </a:xfrm>
          <a:prstGeom prst="ellipse">
            <a:avLst/>
          </a:prstGeom>
          <a:solidFill>
            <a:srgbClr val="02C39A">
              <a:alpha val="40000"/>
            </a:srgbClr>
          </a:solidFill>
          <a:ln/>
        </p:spPr>
      </p:sp>
      <p:sp>
        <p:nvSpPr>
          <p:cNvPr id="8" name="Shape 6"/>
          <p:cNvSpPr/>
          <p:nvPr/>
        </p:nvSpPr>
        <p:spPr>
          <a:xfrm>
            <a:off x="8915400" y="274320"/>
            <a:ext cx="164592" cy="164592"/>
          </a:xfrm>
          <a:prstGeom prst="ellipse">
            <a:avLst/>
          </a:prstGeom>
          <a:solidFill>
            <a:srgbClr val="02C39A">
              <a:alpha val="40000"/>
            </a:srgbClr>
          </a:solidFill>
          <a:ln/>
        </p:spPr>
      </p:sp>
      <p:sp>
        <p:nvSpPr>
          <p:cNvPr id="9" name="Shape 7"/>
          <p:cNvSpPr/>
          <p:nvPr/>
        </p:nvSpPr>
        <p:spPr>
          <a:xfrm>
            <a:off x="6858000" y="548640"/>
            <a:ext cx="164592" cy="164592"/>
          </a:xfrm>
          <a:prstGeom prst="ellipse">
            <a:avLst/>
          </a:prstGeom>
          <a:solidFill>
            <a:srgbClr val="02C39A">
              <a:alpha val="30000"/>
            </a:srgbClr>
          </a:solidFill>
          <a:ln/>
        </p:spPr>
      </p:sp>
      <p:sp>
        <p:nvSpPr>
          <p:cNvPr id="10" name="Shape 8"/>
          <p:cNvSpPr/>
          <p:nvPr/>
        </p:nvSpPr>
        <p:spPr>
          <a:xfrm>
            <a:off x="7269480" y="548640"/>
            <a:ext cx="164592" cy="164592"/>
          </a:xfrm>
          <a:prstGeom prst="ellipse">
            <a:avLst/>
          </a:prstGeom>
          <a:solidFill>
            <a:srgbClr val="02C39A">
              <a:alpha val="30000"/>
            </a:srgbClr>
          </a:solidFill>
          <a:ln/>
        </p:spPr>
      </p:sp>
      <p:sp>
        <p:nvSpPr>
          <p:cNvPr id="11" name="Shape 9"/>
          <p:cNvSpPr/>
          <p:nvPr/>
        </p:nvSpPr>
        <p:spPr>
          <a:xfrm>
            <a:off x="7680960" y="548640"/>
            <a:ext cx="164592" cy="164592"/>
          </a:xfrm>
          <a:prstGeom prst="ellipse">
            <a:avLst/>
          </a:prstGeom>
          <a:solidFill>
            <a:srgbClr val="02C39A">
              <a:alpha val="30000"/>
            </a:srgbClr>
          </a:solidFill>
          <a:ln/>
        </p:spPr>
      </p:sp>
      <p:sp>
        <p:nvSpPr>
          <p:cNvPr id="12" name="Shape 10"/>
          <p:cNvSpPr/>
          <p:nvPr/>
        </p:nvSpPr>
        <p:spPr>
          <a:xfrm>
            <a:off x="8092440" y="548640"/>
            <a:ext cx="164592" cy="164592"/>
          </a:xfrm>
          <a:prstGeom prst="ellipse">
            <a:avLst/>
          </a:prstGeom>
          <a:solidFill>
            <a:srgbClr val="02C39A">
              <a:alpha val="30000"/>
            </a:srgbClr>
          </a:solidFill>
          <a:ln/>
        </p:spPr>
      </p:sp>
      <p:sp>
        <p:nvSpPr>
          <p:cNvPr id="13" name="Shape 11"/>
          <p:cNvSpPr/>
          <p:nvPr/>
        </p:nvSpPr>
        <p:spPr>
          <a:xfrm>
            <a:off x="8503920" y="548640"/>
            <a:ext cx="164592" cy="164592"/>
          </a:xfrm>
          <a:prstGeom prst="ellipse">
            <a:avLst/>
          </a:prstGeom>
          <a:solidFill>
            <a:srgbClr val="02C39A">
              <a:alpha val="30000"/>
            </a:srgbClr>
          </a:solidFill>
          <a:ln/>
        </p:spPr>
      </p:sp>
      <p:sp>
        <p:nvSpPr>
          <p:cNvPr id="14" name="Shape 12"/>
          <p:cNvSpPr/>
          <p:nvPr/>
        </p:nvSpPr>
        <p:spPr>
          <a:xfrm>
            <a:off x="8915400" y="548640"/>
            <a:ext cx="164592" cy="164592"/>
          </a:xfrm>
          <a:prstGeom prst="ellipse">
            <a:avLst/>
          </a:prstGeom>
          <a:solidFill>
            <a:srgbClr val="02C39A">
              <a:alpha val="30000"/>
            </a:srgbClr>
          </a:solidFill>
          <a:ln/>
        </p:spPr>
      </p:sp>
      <p:sp>
        <p:nvSpPr>
          <p:cNvPr id="15" name="Shape 13"/>
          <p:cNvSpPr/>
          <p:nvPr/>
        </p:nvSpPr>
        <p:spPr>
          <a:xfrm>
            <a:off x="6400800" y="731520"/>
            <a:ext cx="3657600" cy="3657600"/>
          </a:xfrm>
          <a:prstGeom prst="ellipse">
            <a:avLst/>
          </a:prstGeom>
          <a:solidFill>
            <a:srgbClr val="065A82">
              <a:alpha val="40000"/>
            </a:srgbClr>
          </a:solidFill>
          <a:ln w="12700">
            <a:solidFill>
              <a:srgbClr val="1C7293">
                <a:alpha val="50000"/>
              </a:srgbClr>
            </a:solidFill>
            <a:prstDash val="solid"/>
          </a:ln>
        </p:spPr>
      </p:sp>
      <p:sp>
        <p:nvSpPr>
          <p:cNvPr id="16" name="Shape 14"/>
          <p:cNvSpPr/>
          <p:nvPr/>
        </p:nvSpPr>
        <p:spPr>
          <a:xfrm>
            <a:off x="7132320" y="1280160"/>
            <a:ext cx="2194560" cy="2194560"/>
          </a:xfrm>
          <a:prstGeom prst="ellipse">
            <a:avLst/>
          </a:prstGeom>
          <a:solidFill>
            <a:srgbClr val="1C7293">
              <a:alpha val="50000"/>
            </a:srgbClr>
          </a:solidFill>
          <a:ln/>
        </p:spPr>
      </p:sp>
      <p:pic>
        <p:nvPicPr>
          <p:cNvPr id="17" name="Image 0" descr="preencoded.png"/>
          <p:cNvPicPr>
            <a:picLocks noChangeAspect="1"/>
          </p:cNvPicPr>
          <p:nvPr/>
        </p:nvPicPr>
        <p:blipFill>
          <a:blip r:embed="rId3"/>
          <a:stretch>
            <a:fillRect/>
          </a:stretch>
        </p:blipFill>
        <p:spPr>
          <a:xfrm>
            <a:off x="7543800" y="1691640"/>
            <a:ext cx="1371600" cy="1371600"/>
          </a:xfrm>
          <a:prstGeom prst="rect">
            <a:avLst/>
          </a:prstGeom>
        </p:spPr>
      </p:pic>
      <p:sp>
        <p:nvSpPr>
          <p:cNvPr id="18" name="Text 15"/>
          <p:cNvSpPr/>
          <p:nvPr/>
        </p:nvSpPr>
        <p:spPr>
          <a:xfrm>
            <a:off x="365760" y="1005840"/>
            <a:ext cx="621792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Tech Career</a:t>
            </a:r>
            <a:endParaRPr lang="en-US" sz="4400" dirty="0"/>
          </a:p>
        </p:txBody>
      </p:sp>
      <p:sp>
        <p:nvSpPr>
          <p:cNvPr id="19" name="Text 16"/>
          <p:cNvSpPr/>
          <p:nvPr/>
        </p:nvSpPr>
        <p:spPr>
          <a:xfrm>
            <a:off x="365760" y="1828800"/>
            <a:ext cx="6217920" cy="914400"/>
          </a:xfrm>
          <a:prstGeom prst="rect">
            <a:avLst/>
          </a:prstGeom>
          <a:noFill/>
          <a:ln/>
        </p:spPr>
        <p:txBody>
          <a:bodyPr wrap="square" lIns="0" tIns="0" rIns="0" bIns="0" rtlCol="0" anchor="ctr"/>
          <a:lstStyle/>
          <a:p>
            <a:pPr marL="0" indent="0">
              <a:buNone/>
            </a:pPr>
            <a:r>
              <a:rPr lang="en-US" sz="4400" b="1" dirty="0">
                <a:solidFill>
                  <a:srgbClr val="02C39A"/>
                </a:solidFill>
                <a:latin typeface="Calibri" pitchFamily="34" charset="0"/>
                <a:ea typeface="Calibri" pitchFamily="34" charset="-122"/>
                <a:cs typeface="Calibri" pitchFamily="34" charset="-120"/>
              </a:rPr>
              <a:t>Navigator</a:t>
            </a:r>
            <a:endParaRPr lang="en-US" sz="4400" dirty="0"/>
          </a:p>
        </p:txBody>
      </p:sp>
      <p:sp>
        <p:nvSpPr>
          <p:cNvPr id="20" name="Text 17"/>
          <p:cNvSpPr/>
          <p:nvPr/>
        </p:nvSpPr>
        <p:spPr>
          <a:xfrm>
            <a:off x="365760" y="2834640"/>
            <a:ext cx="5943600" cy="822960"/>
          </a:xfrm>
          <a:prstGeom prst="rect">
            <a:avLst/>
          </a:prstGeom>
          <a:noFill/>
          <a:ln/>
        </p:spPr>
        <p:txBody>
          <a:bodyPr wrap="square" lIns="0" tIns="0" rIns="0" bIns="0" rtlCol="0" anchor="ctr"/>
          <a:lstStyle/>
          <a:p>
            <a:pPr marL="0" indent="0">
              <a:buNone/>
            </a:pPr>
            <a:r>
              <a:rPr lang="en-US" sz="1500" dirty="0">
                <a:solidFill>
                  <a:srgbClr val="CBD5E1"/>
                </a:solidFill>
                <a:latin typeface="Calibri" pitchFamily="34" charset="0"/>
                <a:ea typeface="Calibri" pitchFamily="34" charset="-122"/>
                <a:cs typeface="Calibri" pitchFamily="34" charset="-120"/>
              </a:rPr>
              <a:t>A Career Guidance &amp; Personalized Learning Roadmap System</a:t>
            </a:r>
            <a:endParaRPr lang="en-US" sz="1500" dirty="0"/>
          </a:p>
          <a:p>
            <a:pPr marL="0" indent="0">
              <a:buNone/>
            </a:pPr>
            <a:r>
              <a:rPr lang="en-US" sz="1500" dirty="0">
                <a:solidFill>
                  <a:srgbClr val="CBD5E1"/>
                </a:solidFill>
                <a:latin typeface="Calibri" pitchFamily="34" charset="0"/>
                <a:ea typeface="Calibri" pitchFamily="34" charset="-122"/>
                <a:cs typeface="Calibri" pitchFamily="34" charset="-120"/>
              </a:rPr>
              <a:t>for Technology Students</a:t>
            </a:r>
            <a:endParaRPr lang="en-US" sz="1500" dirty="0"/>
          </a:p>
        </p:txBody>
      </p:sp>
      <p:sp>
        <p:nvSpPr>
          <p:cNvPr id="21" name="Shape 18"/>
          <p:cNvSpPr/>
          <p:nvPr/>
        </p:nvSpPr>
        <p:spPr>
          <a:xfrm>
            <a:off x="365760" y="4206240"/>
            <a:ext cx="1325880" cy="347472"/>
          </a:xfrm>
          <a:prstGeom prst="rect">
            <a:avLst/>
          </a:prstGeom>
          <a:solidFill>
            <a:srgbClr val="065A82"/>
          </a:solidFill>
          <a:ln/>
          <a:effectLst>
            <a:outerShdw blurRad="101600" dist="38100" dir="8100000" algn="bl" rotWithShape="0">
              <a:srgbClr val="000000">
                <a:alpha val="12000"/>
              </a:srgbClr>
            </a:outerShdw>
          </a:effectLst>
        </p:spPr>
      </p:sp>
      <p:sp>
        <p:nvSpPr>
          <p:cNvPr id="22" name="Text 19"/>
          <p:cNvSpPr/>
          <p:nvPr/>
        </p:nvSpPr>
        <p:spPr>
          <a:xfrm>
            <a:off x="365760" y="4206240"/>
            <a:ext cx="1325880" cy="347472"/>
          </a:xfrm>
          <a:prstGeom prst="rect">
            <a:avLst/>
          </a:prstGeom>
          <a:noFill/>
          <a:ln/>
        </p:spPr>
        <p:txBody>
          <a:bodyPr wrap="square" lIns="0" tIns="0" rIns="0" bIns="0" rtlCol="0" anchor="ctr"/>
          <a:lstStyle/>
          <a:p>
            <a:pPr marL="0" indent="0" algn="ctr">
              <a:buNone/>
            </a:pPr>
            <a:r>
              <a:rPr lang="en-US" sz="1100" b="1" dirty="0">
                <a:solidFill>
                  <a:srgbClr val="02C39A"/>
                </a:solidFill>
              </a:rPr>
              <a:t>B.Tech</a:t>
            </a:r>
            <a:endParaRPr lang="en-US" sz="1100" dirty="0"/>
          </a:p>
        </p:txBody>
      </p:sp>
      <p:sp>
        <p:nvSpPr>
          <p:cNvPr id="23" name="Shape 20"/>
          <p:cNvSpPr/>
          <p:nvPr/>
        </p:nvSpPr>
        <p:spPr>
          <a:xfrm>
            <a:off x="1874520" y="4206240"/>
            <a:ext cx="1325880" cy="347472"/>
          </a:xfrm>
          <a:prstGeom prst="rect">
            <a:avLst/>
          </a:prstGeom>
          <a:solidFill>
            <a:srgbClr val="065A82"/>
          </a:solidFill>
          <a:ln/>
          <a:effectLst>
            <a:outerShdw blurRad="101600" dist="38100" dir="8100000" algn="bl" rotWithShape="0">
              <a:srgbClr val="000000">
                <a:alpha val="12000"/>
              </a:srgbClr>
            </a:outerShdw>
          </a:effectLst>
        </p:spPr>
      </p:sp>
      <p:sp>
        <p:nvSpPr>
          <p:cNvPr id="24" name="Text 21"/>
          <p:cNvSpPr/>
          <p:nvPr/>
        </p:nvSpPr>
        <p:spPr>
          <a:xfrm>
            <a:off x="1874520" y="4206240"/>
            <a:ext cx="1325880" cy="347472"/>
          </a:xfrm>
          <a:prstGeom prst="rect">
            <a:avLst/>
          </a:prstGeom>
          <a:noFill/>
          <a:ln/>
        </p:spPr>
        <p:txBody>
          <a:bodyPr wrap="square" lIns="0" tIns="0" rIns="0" bIns="0" rtlCol="0" anchor="ctr"/>
          <a:lstStyle/>
          <a:p>
            <a:pPr marL="0" indent="0" algn="ctr">
              <a:buNone/>
            </a:pPr>
            <a:r>
              <a:rPr lang="en-US" sz="1100" b="1" dirty="0">
                <a:solidFill>
                  <a:srgbClr val="02C39A"/>
                </a:solidFill>
              </a:rPr>
              <a:t>BCA</a:t>
            </a:r>
            <a:endParaRPr lang="en-US" sz="1100" dirty="0"/>
          </a:p>
        </p:txBody>
      </p:sp>
      <p:sp>
        <p:nvSpPr>
          <p:cNvPr id="25" name="Shape 22"/>
          <p:cNvSpPr/>
          <p:nvPr/>
        </p:nvSpPr>
        <p:spPr>
          <a:xfrm>
            <a:off x="3383280" y="4206240"/>
            <a:ext cx="1325880" cy="347472"/>
          </a:xfrm>
          <a:prstGeom prst="rect">
            <a:avLst/>
          </a:prstGeom>
          <a:solidFill>
            <a:srgbClr val="065A82"/>
          </a:solidFill>
          <a:ln/>
          <a:effectLst>
            <a:outerShdw blurRad="101600" dist="38100" dir="8100000" algn="bl" rotWithShape="0">
              <a:srgbClr val="000000">
                <a:alpha val="12000"/>
              </a:srgbClr>
            </a:outerShdw>
          </a:effectLst>
        </p:spPr>
      </p:sp>
      <p:sp>
        <p:nvSpPr>
          <p:cNvPr id="26" name="Text 23"/>
          <p:cNvSpPr/>
          <p:nvPr/>
        </p:nvSpPr>
        <p:spPr>
          <a:xfrm>
            <a:off x="3383280" y="4206240"/>
            <a:ext cx="1325880" cy="347472"/>
          </a:xfrm>
          <a:prstGeom prst="rect">
            <a:avLst/>
          </a:prstGeom>
          <a:noFill/>
          <a:ln/>
        </p:spPr>
        <p:txBody>
          <a:bodyPr wrap="square" lIns="0" tIns="0" rIns="0" bIns="0" rtlCol="0" anchor="ctr"/>
          <a:lstStyle/>
          <a:p>
            <a:pPr marL="0" indent="0" algn="ctr">
              <a:buNone/>
            </a:pPr>
            <a:r>
              <a:rPr lang="en-US" sz="1100" b="1" dirty="0">
                <a:solidFill>
                  <a:srgbClr val="02C39A"/>
                </a:solidFill>
              </a:rPr>
              <a:t>BSc CS</a:t>
            </a:r>
            <a:endParaRPr lang="en-US" sz="1100" dirty="0"/>
          </a:p>
        </p:txBody>
      </p:sp>
      <p:sp>
        <p:nvSpPr>
          <p:cNvPr id="27" name="Shape 24"/>
          <p:cNvSpPr/>
          <p:nvPr/>
        </p:nvSpPr>
        <p:spPr>
          <a:xfrm>
            <a:off x="4892040" y="4206240"/>
            <a:ext cx="1325880" cy="347472"/>
          </a:xfrm>
          <a:prstGeom prst="rect">
            <a:avLst/>
          </a:prstGeom>
          <a:solidFill>
            <a:srgbClr val="065A82"/>
          </a:solidFill>
          <a:ln/>
          <a:effectLst>
            <a:outerShdw blurRad="101600" dist="38100" dir="8100000" algn="bl" rotWithShape="0">
              <a:srgbClr val="000000">
                <a:alpha val="12000"/>
              </a:srgbClr>
            </a:outerShdw>
          </a:effectLst>
        </p:spPr>
      </p:sp>
      <p:sp>
        <p:nvSpPr>
          <p:cNvPr id="28" name="Text 25"/>
          <p:cNvSpPr/>
          <p:nvPr/>
        </p:nvSpPr>
        <p:spPr>
          <a:xfrm>
            <a:off x="4892040" y="4206240"/>
            <a:ext cx="1325880" cy="347472"/>
          </a:xfrm>
          <a:prstGeom prst="rect">
            <a:avLst/>
          </a:prstGeom>
          <a:noFill/>
          <a:ln/>
        </p:spPr>
        <p:txBody>
          <a:bodyPr wrap="square" lIns="0" tIns="0" rIns="0" bIns="0" rtlCol="0" anchor="ctr"/>
          <a:lstStyle/>
          <a:p>
            <a:pPr marL="0" indent="0" algn="ctr">
              <a:buNone/>
            </a:pPr>
            <a:r>
              <a:rPr lang="en-US" sz="1100" b="1" dirty="0">
                <a:solidFill>
                  <a:srgbClr val="02C39A"/>
                </a:solidFill>
              </a:rPr>
              <a:t>MCA</a:t>
            </a:r>
            <a:endParaRPr lang="en-US" sz="1100" dirty="0"/>
          </a:p>
        </p:txBody>
      </p:sp>
      <p:sp>
        <p:nvSpPr>
          <p:cNvPr id="29" name="Shape 26"/>
          <p:cNvSpPr/>
          <p:nvPr/>
        </p:nvSpPr>
        <p:spPr>
          <a:xfrm>
            <a:off x="6400800" y="4206240"/>
            <a:ext cx="1325880" cy="347472"/>
          </a:xfrm>
          <a:prstGeom prst="rect">
            <a:avLst/>
          </a:prstGeom>
          <a:solidFill>
            <a:srgbClr val="065A82"/>
          </a:solidFill>
          <a:ln/>
          <a:effectLst>
            <a:outerShdw blurRad="101600" dist="38100" dir="8100000" algn="bl" rotWithShape="0">
              <a:srgbClr val="000000">
                <a:alpha val="12000"/>
              </a:srgbClr>
            </a:outerShdw>
          </a:effectLst>
        </p:spPr>
      </p:sp>
      <p:sp>
        <p:nvSpPr>
          <p:cNvPr id="30" name="Text 27"/>
          <p:cNvSpPr/>
          <p:nvPr/>
        </p:nvSpPr>
        <p:spPr>
          <a:xfrm>
            <a:off x="6400800" y="4206240"/>
            <a:ext cx="1325880" cy="347472"/>
          </a:xfrm>
          <a:prstGeom prst="rect">
            <a:avLst/>
          </a:prstGeom>
          <a:noFill/>
          <a:ln/>
        </p:spPr>
        <p:txBody>
          <a:bodyPr wrap="square" lIns="0" tIns="0" rIns="0" bIns="0" rtlCol="0" anchor="ctr"/>
          <a:lstStyle/>
          <a:p>
            <a:pPr marL="0" indent="0" algn="ctr">
              <a:buNone/>
            </a:pPr>
            <a:r>
              <a:rPr lang="en-US" sz="1100" b="1" dirty="0">
                <a:solidFill>
                  <a:srgbClr val="02C39A"/>
                </a:solidFill>
              </a:rPr>
              <a:t>Diploma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p:spPr>
      </p:sp>
      <p:sp>
        <p:nvSpPr>
          <p:cNvPr id="3" name="Text 1"/>
          <p:cNvSpPr/>
          <p:nvPr/>
        </p:nvSpPr>
        <p:spPr>
          <a:xfrm>
            <a:off x="365760" y="73152"/>
            <a:ext cx="8229600" cy="768096"/>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Introduction</a:t>
            </a:r>
            <a:endParaRPr lang="en-US" sz="3000" dirty="0"/>
          </a:p>
        </p:txBody>
      </p:sp>
      <p:sp>
        <p:nvSpPr>
          <p:cNvPr id="4" name="Shape 2"/>
          <p:cNvSpPr/>
          <p:nvPr/>
        </p:nvSpPr>
        <p:spPr>
          <a:xfrm>
            <a:off x="274320" y="1051560"/>
            <a:ext cx="4114800" cy="3566160"/>
          </a:xfrm>
          <a:prstGeom prst="rect">
            <a:avLst/>
          </a:prstGeom>
          <a:solidFill>
            <a:srgbClr val="FFFFFF"/>
          </a:solidFill>
          <a:ln/>
          <a:effectLst>
            <a:outerShdw blurRad="101600" dist="38100" dir="8100000" algn="bl" rotWithShape="0">
              <a:srgbClr val="000000">
                <a:alpha val="12000"/>
              </a:srgbClr>
            </a:outerShdw>
          </a:effectLst>
        </p:spPr>
      </p:sp>
      <p:sp>
        <p:nvSpPr>
          <p:cNvPr id="5" name="Shape 3"/>
          <p:cNvSpPr/>
          <p:nvPr/>
        </p:nvSpPr>
        <p:spPr>
          <a:xfrm>
            <a:off x="274320" y="1051560"/>
            <a:ext cx="73152" cy="3566160"/>
          </a:xfrm>
          <a:prstGeom prst="rect">
            <a:avLst/>
          </a:prstGeom>
          <a:solidFill>
            <a:srgbClr val="02C39A"/>
          </a:solidFill>
          <a:ln/>
        </p:spPr>
      </p:sp>
      <p:sp>
        <p:nvSpPr>
          <p:cNvPr id="6" name="Text 4"/>
          <p:cNvSpPr/>
          <p:nvPr/>
        </p:nvSpPr>
        <p:spPr>
          <a:xfrm>
            <a:off x="502920" y="1143000"/>
            <a:ext cx="3657600" cy="41148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The Challenge</a:t>
            </a:r>
            <a:endParaRPr lang="en-US" sz="1700" dirty="0"/>
          </a:p>
        </p:txBody>
      </p:sp>
      <p:sp>
        <p:nvSpPr>
          <p:cNvPr id="7" name="Text 5"/>
          <p:cNvSpPr/>
          <p:nvPr/>
        </p:nvSpPr>
        <p:spPr>
          <a:xfrm>
            <a:off x="502920" y="1600200"/>
            <a:ext cx="3657600" cy="12801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Students in technology courses — B.Tech, BCA, and BSc CS — frequently struggle to identify the right skills, career paths, and study priorities during their formative college years.</a:t>
            </a:r>
            <a:endParaRPr lang="en-US" sz="1300" dirty="0"/>
          </a:p>
        </p:txBody>
      </p:sp>
      <p:sp>
        <p:nvSpPr>
          <p:cNvPr id="8" name="Text 6"/>
          <p:cNvSpPr/>
          <p:nvPr/>
        </p:nvSpPr>
        <p:spPr>
          <a:xfrm>
            <a:off x="502920" y="2926080"/>
            <a:ext cx="3657600" cy="109728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This confusion leads to wasted time, missed opportunities, and graduates who feel unprepared for the IT industry.</a:t>
            </a:r>
            <a:endParaRPr lang="en-US" sz="1300" dirty="0"/>
          </a:p>
        </p:txBody>
      </p:sp>
      <p:sp>
        <p:nvSpPr>
          <p:cNvPr id="9" name="Shape 7"/>
          <p:cNvSpPr/>
          <p:nvPr/>
        </p:nvSpPr>
        <p:spPr>
          <a:xfrm>
            <a:off x="4754880" y="1051560"/>
            <a:ext cx="4114800" cy="3566160"/>
          </a:xfrm>
          <a:prstGeom prst="rect">
            <a:avLst/>
          </a:prstGeom>
          <a:solidFill>
            <a:srgbClr val="065A82"/>
          </a:solidFill>
          <a:ln/>
          <a:effectLst>
            <a:outerShdw blurRad="101600" dist="38100" dir="8100000" algn="bl" rotWithShape="0">
              <a:srgbClr val="000000">
                <a:alpha val="12000"/>
              </a:srgbClr>
            </a:outerShdw>
          </a:effectLst>
        </p:spPr>
      </p:sp>
      <p:sp>
        <p:nvSpPr>
          <p:cNvPr id="10" name="Text 8"/>
          <p:cNvSpPr/>
          <p:nvPr/>
        </p:nvSpPr>
        <p:spPr>
          <a:xfrm>
            <a:off x="4937760" y="1188720"/>
            <a:ext cx="3749040" cy="411480"/>
          </a:xfrm>
          <a:prstGeom prst="rect">
            <a:avLst/>
          </a:prstGeom>
          <a:noFill/>
          <a:ln/>
        </p:spPr>
        <p:txBody>
          <a:bodyPr wrap="square" lIns="0" tIns="0" rIns="0" bIns="0" rtlCol="0" anchor="ctr"/>
          <a:lstStyle/>
          <a:p>
            <a:pPr marL="0" indent="0">
              <a:buNone/>
            </a:pPr>
            <a:r>
              <a:rPr lang="en-US" sz="1700" b="1" dirty="0">
                <a:solidFill>
                  <a:srgbClr val="02C39A"/>
                </a:solidFill>
                <a:latin typeface="Calibri" pitchFamily="34" charset="0"/>
                <a:ea typeface="Calibri" pitchFamily="34" charset="-122"/>
                <a:cs typeface="Calibri" pitchFamily="34" charset="-120"/>
              </a:rPr>
              <a:t>Our Solution</a:t>
            </a:r>
            <a:endParaRPr lang="en-US" sz="1700" dirty="0"/>
          </a:p>
        </p:txBody>
      </p:sp>
      <p:sp>
        <p:nvSpPr>
          <p:cNvPr id="11" name="Shape 9"/>
          <p:cNvSpPr/>
          <p:nvPr/>
        </p:nvSpPr>
        <p:spPr>
          <a:xfrm>
            <a:off x="4937760" y="1755648"/>
            <a:ext cx="201168" cy="201168"/>
          </a:xfrm>
          <a:prstGeom prst="ellipse">
            <a:avLst/>
          </a:prstGeom>
          <a:solidFill>
            <a:srgbClr val="02C39A"/>
          </a:solidFill>
          <a:ln/>
        </p:spPr>
      </p:sp>
      <p:sp>
        <p:nvSpPr>
          <p:cNvPr id="12" name="Text 10"/>
          <p:cNvSpPr/>
          <p:nvPr/>
        </p:nvSpPr>
        <p:spPr>
          <a:xfrm>
            <a:off x="5230368" y="1719072"/>
            <a:ext cx="34290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Collects course, semester &amp; subject info</a:t>
            </a:r>
            <a:endParaRPr lang="en-US" sz="1200" dirty="0"/>
          </a:p>
        </p:txBody>
      </p:sp>
      <p:sp>
        <p:nvSpPr>
          <p:cNvPr id="13" name="Shape 11"/>
          <p:cNvSpPr/>
          <p:nvPr/>
        </p:nvSpPr>
        <p:spPr>
          <a:xfrm>
            <a:off x="4937760" y="2267712"/>
            <a:ext cx="201168" cy="201168"/>
          </a:xfrm>
          <a:prstGeom prst="ellipse">
            <a:avLst/>
          </a:prstGeom>
          <a:solidFill>
            <a:srgbClr val="02C39A"/>
          </a:solidFill>
          <a:ln/>
        </p:spPr>
      </p:sp>
      <p:sp>
        <p:nvSpPr>
          <p:cNvPr id="14" name="Text 12"/>
          <p:cNvSpPr/>
          <p:nvPr/>
        </p:nvSpPr>
        <p:spPr>
          <a:xfrm>
            <a:off x="5230368" y="2231136"/>
            <a:ext cx="34290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Analyzes subjects relevant to IT careers</a:t>
            </a:r>
            <a:endParaRPr lang="en-US" sz="1200" dirty="0"/>
          </a:p>
        </p:txBody>
      </p:sp>
      <p:sp>
        <p:nvSpPr>
          <p:cNvPr id="15" name="Shape 13"/>
          <p:cNvSpPr/>
          <p:nvPr/>
        </p:nvSpPr>
        <p:spPr>
          <a:xfrm>
            <a:off x="4937760" y="2779776"/>
            <a:ext cx="201168" cy="201168"/>
          </a:xfrm>
          <a:prstGeom prst="ellipse">
            <a:avLst/>
          </a:prstGeom>
          <a:solidFill>
            <a:srgbClr val="02C39A"/>
          </a:solidFill>
          <a:ln/>
        </p:spPr>
      </p:sp>
      <p:sp>
        <p:nvSpPr>
          <p:cNvPr id="16" name="Text 14"/>
          <p:cNvSpPr/>
          <p:nvPr/>
        </p:nvSpPr>
        <p:spPr>
          <a:xfrm>
            <a:off x="5230368" y="2743200"/>
            <a:ext cx="34290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Guides students to the right career path</a:t>
            </a:r>
            <a:endParaRPr lang="en-US" sz="1200" dirty="0"/>
          </a:p>
        </p:txBody>
      </p:sp>
      <p:sp>
        <p:nvSpPr>
          <p:cNvPr id="17" name="Shape 15"/>
          <p:cNvSpPr/>
          <p:nvPr/>
        </p:nvSpPr>
        <p:spPr>
          <a:xfrm>
            <a:off x="4937760" y="3291840"/>
            <a:ext cx="201168" cy="201168"/>
          </a:xfrm>
          <a:prstGeom prst="ellipse">
            <a:avLst/>
          </a:prstGeom>
          <a:solidFill>
            <a:srgbClr val="02C39A"/>
          </a:solidFill>
          <a:ln/>
        </p:spPr>
      </p:sp>
      <p:sp>
        <p:nvSpPr>
          <p:cNvPr id="18" name="Text 16"/>
          <p:cNvSpPr/>
          <p:nvPr/>
        </p:nvSpPr>
        <p:spPr>
          <a:xfrm>
            <a:off x="5230368" y="3255264"/>
            <a:ext cx="34290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Generates a personalized learning roadmap</a:t>
            </a:r>
            <a:endParaRPr lang="en-US" sz="1200" dirty="0"/>
          </a:p>
        </p:txBody>
      </p:sp>
      <p:sp>
        <p:nvSpPr>
          <p:cNvPr id="19" name="Shape 17"/>
          <p:cNvSpPr/>
          <p:nvPr/>
        </p:nvSpPr>
        <p:spPr>
          <a:xfrm>
            <a:off x="4937760" y="3803904"/>
            <a:ext cx="201168" cy="201168"/>
          </a:xfrm>
          <a:prstGeom prst="ellipse">
            <a:avLst/>
          </a:prstGeom>
          <a:solidFill>
            <a:srgbClr val="02C39A"/>
          </a:solidFill>
          <a:ln/>
        </p:spPr>
      </p:sp>
      <p:sp>
        <p:nvSpPr>
          <p:cNvPr id="20" name="Text 18"/>
          <p:cNvSpPr/>
          <p:nvPr/>
        </p:nvSpPr>
        <p:spPr>
          <a:xfrm>
            <a:off x="5230368" y="3767328"/>
            <a:ext cx="34290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Assigns daily tasks for consistent growth</a:t>
            </a:r>
            <a:endParaRPr lang="en-US" sz="1200" dirty="0"/>
          </a:p>
        </p:txBody>
      </p:sp>
      <p:pic>
        <p:nvPicPr>
          <p:cNvPr id="21" name="Image 0" descr="preencoded.png"/>
          <p:cNvPicPr>
            <a:picLocks noChangeAspect="1"/>
          </p:cNvPicPr>
          <p:nvPr/>
        </p:nvPicPr>
        <p:blipFill>
          <a:blip r:embed="rId3"/>
          <a:stretch>
            <a:fillRect/>
          </a:stretch>
        </p:blipFill>
        <p:spPr>
          <a:xfrm>
            <a:off x="7772400" y="3931920"/>
            <a:ext cx="822960" cy="8229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C39A"/>
          </a:solidFill>
          <a:ln/>
        </p:spPr>
      </p:sp>
      <p:sp>
        <p:nvSpPr>
          <p:cNvPr id="3" name="Text 1"/>
          <p:cNvSpPr/>
          <p:nvPr/>
        </p:nvSpPr>
        <p:spPr>
          <a:xfrm>
            <a:off x="365760" y="73152"/>
            <a:ext cx="8229600" cy="768096"/>
          </a:xfrm>
          <a:prstGeom prst="rect">
            <a:avLst/>
          </a:prstGeom>
          <a:noFill/>
          <a:ln/>
        </p:spPr>
        <p:txBody>
          <a:bodyPr wrap="square" lIns="0" tIns="0" rIns="0" bIns="0"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Problem Statement</a:t>
            </a:r>
            <a:endParaRPr lang="en-US" sz="3000" dirty="0"/>
          </a:p>
        </p:txBody>
      </p:sp>
      <p:sp>
        <p:nvSpPr>
          <p:cNvPr id="4" name="Text 2"/>
          <p:cNvSpPr/>
          <p:nvPr/>
        </p:nvSpPr>
        <p:spPr>
          <a:xfrm>
            <a:off x="457200" y="1005840"/>
            <a:ext cx="8229600" cy="822960"/>
          </a:xfrm>
          <a:prstGeom prst="rect">
            <a:avLst/>
          </a:prstGeom>
          <a:noFill/>
          <a:ln/>
        </p:spPr>
        <p:txBody>
          <a:bodyPr wrap="square" lIns="0" tIns="0" rIns="0" bIns="0" rtlCol="0" anchor="ctr"/>
          <a:lstStyle/>
          <a:p>
            <a:pPr marL="0" indent="0" algn="ctr">
              <a:buNone/>
            </a:pPr>
            <a:r>
              <a:rPr lang="en-US" sz="1600" i="1" dirty="0">
                <a:solidFill>
                  <a:srgbClr val="CBD5E1"/>
                </a:solidFill>
                <a:latin typeface="Calibri" pitchFamily="34" charset="0"/>
                <a:ea typeface="Calibri" pitchFamily="34" charset="-122"/>
                <a:cs typeface="Calibri" pitchFamily="34" charset="-120"/>
              </a:rPr>
              <a:t>"Students waste their most valuable learning years</a:t>
            </a:r>
            <a:endParaRPr lang="en-US" sz="1600" dirty="0"/>
          </a:p>
          <a:p>
            <a:pPr marL="0" indent="0" algn="ctr">
              <a:buNone/>
            </a:pPr>
            <a:r>
              <a:rPr lang="en-US" sz="1600" i="1" dirty="0">
                <a:solidFill>
                  <a:srgbClr val="CBD5E1"/>
                </a:solidFill>
                <a:latin typeface="Calibri" pitchFamily="34" charset="0"/>
                <a:ea typeface="Calibri" pitchFamily="34" charset="-122"/>
                <a:cs typeface="Calibri" pitchFamily="34" charset="-120"/>
              </a:rPr>
              <a:t>due to a lack of structured career guidance."</a:t>
            </a:r>
            <a:endParaRPr lang="en-US" sz="1600" dirty="0"/>
          </a:p>
        </p:txBody>
      </p:sp>
      <p:sp>
        <p:nvSpPr>
          <p:cNvPr id="5" name="Shape 3"/>
          <p:cNvSpPr/>
          <p:nvPr/>
        </p:nvSpPr>
        <p:spPr>
          <a:xfrm>
            <a:off x="274320" y="1965960"/>
            <a:ext cx="2011680" cy="2606040"/>
          </a:xfrm>
          <a:prstGeom prst="rect">
            <a:avLst/>
          </a:prstGeom>
          <a:solidFill>
            <a:srgbClr val="065A82"/>
          </a:solidFill>
          <a:ln/>
          <a:effectLst>
            <a:outerShdw blurRad="101600" dist="38100" dir="8100000" algn="bl" rotWithShape="0">
              <a:srgbClr val="000000">
                <a:alpha val="12000"/>
              </a:srgbClr>
            </a:outerShdw>
          </a:effectLst>
        </p:spPr>
      </p:sp>
      <p:pic>
        <p:nvPicPr>
          <p:cNvPr id="6" name="Image 0" descr="preencoded.png"/>
          <p:cNvPicPr>
            <a:picLocks noChangeAspect="1"/>
          </p:cNvPicPr>
          <p:nvPr/>
        </p:nvPicPr>
        <p:blipFill>
          <a:blip r:embed="rId3"/>
          <a:stretch>
            <a:fillRect/>
          </a:stretch>
        </p:blipFill>
        <p:spPr>
          <a:xfrm>
            <a:off x="960120" y="2103120"/>
            <a:ext cx="594360" cy="594360"/>
          </a:xfrm>
          <a:prstGeom prst="rect">
            <a:avLst/>
          </a:prstGeom>
        </p:spPr>
      </p:pic>
      <p:sp>
        <p:nvSpPr>
          <p:cNvPr id="7" name="Text 4"/>
          <p:cNvSpPr/>
          <p:nvPr/>
        </p:nvSpPr>
        <p:spPr>
          <a:xfrm>
            <a:off x="347472" y="2834640"/>
            <a:ext cx="1874520" cy="411480"/>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Wrong Priorities</a:t>
            </a:r>
            <a:endParaRPr lang="en-US" sz="1300" dirty="0"/>
          </a:p>
        </p:txBody>
      </p:sp>
      <p:sp>
        <p:nvSpPr>
          <p:cNvPr id="8" name="Text 5"/>
          <p:cNvSpPr/>
          <p:nvPr/>
        </p:nvSpPr>
        <p:spPr>
          <a:xfrm>
            <a:off x="365760" y="3291840"/>
            <a:ext cx="1828800" cy="1143000"/>
          </a:xfrm>
          <a:prstGeom prst="rect">
            <a:avLst/>
          </a:prstGeom>
          <a:noFill/>
          <a:ln/>
        </p:spPr>
        <p:txBody>
          <a:bodyPr wrap="square" lIns="0" tIns="0" rIns="0" bIns="0"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Students focus on irrelevant subjects instead of industry-critical skills.</a:t>
            </a:r>
            <a:endParaRPr lang="en-US" sz="1050" dirty="0"/>
          </a:p>
        </p:txBody>
      </p:sp>
      <p:sp>
        <p:nvSpPr>
          <p:cNvPr id="9" name="Shape 6"/>
          <p:cNvSpPr/>
          <p:nvPr/>
        </p:nvSpPr>
        <p:spPr>
          <a:xfrm>
            <a:off x="2450592" y="1965960"/>
            <a:ext cx="2011680" cy="2606040"/>
          </a:xfrm>
          <a:prstGeom prst="rect">
            <a:avLst/>
          </a:prstGeom>
          <a:solidFill>
            <a:srgbClr val="1C7293"/>
          </a:solidFill>
          <a:ln/>
          <a:effectLst>
            <a:outerShdw blurRad="101600" dist="38100" dir="8100000" algn="bl" rotWithShape="0">
              <a:srgbClr val="000000">
                <a:alpha val="12000"/>
              </a:srgbClr>
            </a:outerShdw>
          </a:effectLst>
        </p:spPr>
      </p:sp>
      <p:pic>
        <p:nvPicPr>
          <p:cNvPr id="10" name="Image 1" descr="preencoded.png"/>
          <p:cNvPicPr>
            <a:picLocks noChangeAspect="1"/>
          </p:cNvPicPr>
          <p:nvPr/>
        </p:nvPicPr>
        <p:blipFill>
          <a:blip r:embed="rId4"/>
          <a:stretch>
            <a:fillRect/>
          </a:stretch>
        </p:blipFill>
        <p:spPr>
          <a:xfrm>
            <a:off x="3136392" y="2103120"/>
            <a:ext cx="594360" cy="594360"/>
          </a:xfrm>
          <a:prstGeom prst="rect">
            <a:avLst/>
          </a:prstGeom>
        </p:spPr>
      </p:pic>
      <p:sp>
        <p:nvSpPr>
          <p:cNvPr id="11" name="Text 7"/>
          <p:cNvSpPr/>
          <p:nvPr/>
        </p:nvSpPr>
        <p:spPr>
          <a:xfrm>
            <a:off x="2523744" y="2834640"/>
            <a:ext cx="1874520" cy="411480"/>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No Roadmap</a:t>
            </a:r>
            <a:endParaRPr lang="en-US" sz="1300" dirty="0"/>
          </a:p>
        </p:txBody>
      </p:sp>
      <p:sp>
        <p:nvSpPr>
          <p:cNvPr id="12" name="Text 8"/>
          <p:cNvSpPr/>
          <p:nvPr/>
        </p:nvSpPr>
        <p:spPr>
          <a:xfrm>
            <a:off x="2542032" y="3291840"/>
            <a:ext cx="1828800" cy="1143000"/>
          </a:xfrm>
          <a:prstGeom prst="rect">
            <a:avLst/>
          </a:prstGeom>
          <a:noFill/>
          <a:ln/>
        </p:spPr>
        <p:txBody>
          <a:bodyPr wrap="square" lIns="0" tIns="0" rIns="0" bIns="0"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No structured path for learning the right skills in the right order.</a:t>
            </a:r>
            <a:endParaRPr lang="en-US" sz="1050" dirty="0"/>
          </a:p>
        </p:txBody>
      </p:sp>
      <p:sp>
        <p:nvSpPr>
          <p:cNvPr id="13" name="Shape 9"/>
          <p:cNvSpPr/>
          <p:nvPr/>
        </p:nvSpPr>
        <p:spPr>
          <a:xfrm>
            <a:off x="4626864" y="1965960"/>
            <a:ext cx="2011680" cy="2606040"/>
          </a:xfrm>
          <a:prstGeom prst="rect">
            <a:avLst/>
          </a:prstGeom>
          <a:solidFill>
            <a:srgbClr val="03045E"/>
          </a:solidFill>
          <a:ln/>
          <a:effectLst>
            <a:outerShdw blurRad="101600" dist="38100" dir="8100000" algn="bl" rotWithShape="0">
              <a:srgbClr val="000000">
                <a:alpha val="12000"/>
              </a:srgbClr>
            </a:outerShdw>
          </a:effectLst>
        </p:spPr>
      </p:sp>
      <p:pic>
        <p:nvPicPr>
          <p:cNvPr id="14" name="Image 2" descr="preencoded.png"/>
          <p:cNvPicPr>
            <a:picLocks noChangeAspect="1"/>
          </p:cNvPicPr>
          <p:nvPr/>
        </p:nvPicPr>
        <p:blipFill>
          <a:blip r:embed="rId5"/>
          <a:stretch>
            <a:fillRect/>
          </a:stretch>
        </p:blipFill>
        <p:spPr>
          <a:xfrm>
            <a:off x="5312664" y="2103120"/>
            <a:ext cx="594360" cy="594360"/>
          </a:xfrm>
          <a:prstGeom prst="rect">
            <a:avLst/>
          </a:prstGeom>
        </p:spPr>
      </p:pic>
      <p:sp>
        <p:nvSpPr>
          <p:cNvPr id="15" name="Text 10"/>
          <p:cNvSpPr/>
          <p:nvPr/>
        </p:nvSpPr>
        <p:spPr>
          <a:xfrm>
            <a:off x="4700016" y="2834640"/>
            <a:ext cx="1874520" cy="411480"/>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Career Confusion</a:t>
            </a:r>
            <a:endParaRPr lang="en-US" sz="1300" dirty="0"/>
          </a:p>
        </p:txBody>
      </p:sp>
      <p:sp>
        <p:nvSpPr>
          <p:cNvPr id="16" name="Text 11"/>
          <p:cNvSpPr/>
          <p:nvPr/>
        </p:nvSpPr>
        <p:spPr>
          <a:xfrm>
            <a:off x="4718304" y="3291840"/>
            <a:ext cx="1828800" cy="1143000"/>
          </a:xfrm>
          <a:prstGeom prst="rect">
            <a:avLst/>
          </a:prstGeom>
          <a:noFill/>
          <a:ln/>
        </p:spPr>
        <p:txBody>
          <a:bodyPr wrap="square" lIns="0" tIns="0" rIns="0" bIns="0"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Unclear about which technology career field suits their interests.</a:t>
            </a:r>
            <a:endParaRPr lang="en-US" sz="1050" dirty="0"/>
          </a:p>
        </p:txBody>
      </p:sp>
      <p:sp>
        <p:nvSpPr>
          <p:cNvPr id="17" name="Shape 12"/>
          <p:cNvSpPr/>
          <p:nvPr/>
        </p:nvSpPr>
        <p:spPr>
          <a:xfrm>
            <a:off x="6803136" y="1965960"/>
            <a:ext cx="2011680" cy="2606040"/>
          </a:xfrm>
          <a:prstGeom prst="rect">
            <a:avLst/>
          </a:prstGeom>
          <a:solidFill>
            <a:srgbClr val="023E58"/>
          </a:solidFill>
          <a:ln/>
          <a:effectLst>
            <a:outerShdw blurRad="101600" dist="38100" dir="8100000" algn="bl" rotWithShape="0">
              <a:srgbClr val="000000">
                <a:alpha val="12000"/>
              </a:srgbClr>
            </a:outerShdw>
          </a:effectLst>
        </p:spPr>
      </p:sp>
      <p:pic>
        <p:nvPicPr>
          <p:cNvPr id="18" name="Image 3" descr="preencoded.png"/>
          <p:cNvPicPr>
            <a:picLocks noChangeAspect="1"/>
          </p:cNvPicPr>
          <p:nvPr/>
        </p:nvPicPr>
        <p:blipFill>
          <a:blip r:embed="rId6"/>
          <a:stretch>
            <a:fillRect/>
          </a:stretch>
        </p:blipFill>
        <p:spPr>
          <a:xfrm>
            <a:off x="7488936" y="2103120"/>
            <a:ext cx="594360" cy="594360"/>
          </a:xfrm>
          <a:prstGeom prst="rect">
            <a:avLst/>
          </a:prstGeom>
        </p:spPr>
      </p:pic>
      <p:sp>
        <p:nvSpPr>
          <p:cNvPr id="19" name="Text 13"/>
          <p:cNvSpPr/>
          <p:nvPr/>
        </p:nvSpPr>
        <p:spPr>
          <a:xfrm>
            <a:off x="6876288" y="2834640"/>
            <a:ext cx="1874520" cy="411480"/>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Inconsistency</a:t>
            </a:r>
            <a:endParaRPr lang="en-US" sz="1300" dirty="0"/>
          </a:p>
        </p:txBody>
      </p:sp>
      <p:sp>
        <p:nvSpPr>
          <p:cNvPr id="20" name="Text 14"/>
          <p:cNvSpPr/>
          <p:nvPr/>
        </p:nvSpPr>
        <p:spPr>
          <a:xfrm>
            <a:off x="6894576" y="3291840"/>
            <a:ext cx="1828800" cy="1143000"/>
          </a:xfrm>
          <a:prstGeom prst="rect">
            <a:avLst/>
          </a:prstGeom>
          <a:noFill/>
          <a:ln/>
        </p:spPr>
        <p:txBody>
          <a:bodyPr wrap="square" lIns="0" tIns="0" rIns="0" bIns="0"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Without daily goals, students lose momentum and fall behind.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2377440" cy="5143500"/>
          </a:xfrm>
          <a:prstGeom prst="rect">
            <a:avLst/>
          </a:prstGeom>
          <a:solidFill>
            <a:srgbClr val="065A82"/>
          </a:solidFill>
          <a:ln/>
        </p:spPr>
      </p:sp>
      <p:sp>
        <p:nvSpPr>
          <p:cNvPr id="3" name="Text 1"/>
          <p:cNvSpPr/>
          <p:nvPr/>
        </p:nvSpPr>
        <p:spPr>
          <a:xfrm>
            <a:off x="91440" y="1645920"/>
            <a:ext cx="2194560" cy="18288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Project</a:t>
            </a:r>
            <a:endParaRPr lang="en-US" sz="2600" dirty="0"/>
          </a:p>
          <a:p>
            <a:pPr marL="0" indent="0" algn="ctr">
              <a:buNone/>
            </a:pPr>
            <a:r>
              <a:rPr lang="en-US" sz="2600" b="1" dirty="0">
                <a:solidFill>
                  <a:srgbClr val="FFFFFF"/>
                </a:solidFill>
                <a:latin typeface="Calibri" pitchFamily="34" charset="0"/>
                <a:ea typeface="Calibri" pitchFamily="34" charset="-122"/>
                <a:cs typeface="Calibri" pitchFamily="34" charset="-120"/>
              </a:rPr>
              <a:t>Objectives</a:t>
            </a:r>
            <a:endParaRPr lang="en-US" sz="2600" dirty="0"/>
          </a:p>
        </p:txBody>
      </p:sp>
      <p:pic>
        <p:nvPicPr>
          <p:cNvPr id="4" name="Image 0" descr="preencoded.png"/>
          <p:cNvPicPr>
            <a:picLocks noChangeAspect="1"/>
          </p:cNvPicPr>
          <p:nvPr/>
        </p:nvPicPr>
        <p:blipFill>
          <a:blip r:embed="rId3"/>
          <a:stretch>
            <a:fillRect/>
          </a:stretch>
        </p:blipFill>
        <p:spPr>
          <a:xfrm>
            <a:off x="914400" y="548640"/>
            <a:ext cx="594360" cy="594360"/>
          </a:xfrm>
          <a:prstGeom prst="rect">
            <a:avLst/>
          </a:prstGeom>
        </p:spPr>
      </p:pic>
      <p:sp>
        <p:nvSpPr>
          <p:cNvPr id="5" name="Shape 2"/>
          <p:cNvSpPr/>
          <p:nvPr/>
        </p:nvSpPr>
        <p:spPr>
          <a:xfrm>
            <a:off x="2651760" y="576072"/>
            <a:ext cx="475488" cy="475488"/>
          </a:xfrm>
          <a:prstGeom prst="ellipse">
            <a:avLst/>
          </a:prstGeom>
          <a:solidFill>
            <a:srgbClr val="02C39A"/>
          </a:solidFill>
          <a:ln/>
          <a:effectLst>
            <a:outerShdw blurRad="101600" dist="38100" dir="8100000" algn="bl" rotWithShape="0">
              <a:srgbClr val="000000">
                <a:alpha val="12000"/>
              </a:srgbClr>
            </a:outerShdw>
          </a:effectLst>
        </p:spPr>
      </p:sp>
      <p:sp>
        <p:nvSpPr>
          <p:cNvPr id="6" name="Text 3"/>
          <p:cNvSpPr/>
          <p:nvPr/>
        </p:nvSpPr>
        <p:spPr>
          <a:xfrm>
            <a:off x="2651760" y="576072"/>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1</a:t>
            </a:r>
            <a:endParaRPr lang="en-US" sz="1400" dirty="0"/>
          </a:p>
        </p:txBody>
      </p:sp>
      <p:sp>
        <p:nvSpPr>
          <p:cNvPr id="7" name="Shape 4"/>
          <p:cNvSpPr/>
          <p:nvPr/>
        </p:nvSpPr>
        <p:spPr>
          <a:xfrm>
            <a:off x="3291840" y="502920"/>
            <a:ext cx="5577840" cy="621792"/>
          </a:xfrm>
          <a:prstGeom prst="rect">
            <a:avLst/>
          </a:prstGeom>
          <a:solidFill>
            <a:srgbClr val="FFFFFF"/>
          </a:solidFill>
          <a:ln/>
          <a:effectLst>
            <a:outerShdw blurRad="101600" dist="38100" dir="8100000" algn="bl" rotWithShape="0">
              <a:srgbClr val="000000">
                <a:alpha val="12000"/>
              </a:srgbClr>
            </a:outerShdw>
          </a:effectLst>
        </p:spPr>
      </p:sp>
      <p:sp>
        <p:nvSpPr>
          <p:cNvPr id="8" name="Text 5"/>
          <p:cNvSpPr/>
          <p:nvPr/>
        </p:nvSpPr>
        <p:spPr>
          <a:xfrm>
            <a:off x="3429000" y="502920"/>
            <a:ext cx="5349240" cy="621792"/>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Help students identify the most important subjects for IT careers.</a:t>
            </a:r>
            <a:endParaRPr lang="en-US" sz="1300" dirty="0"/>
          </a:p>
        </p:txBody>
      </p:sp>
      <p:sp>
        <p:nvSpPr>
          <p:cNvPr id="9" name="Shape 6"/>
          <p:cNvSpPr/>
          <p:nvPr/>
        </p:nvSpPr>
        <p:spPr>
          <a:xfrm>
            <a:off x="2651760" y="1444752"/>
            <a:ext cx="475488" cy="475488"/>
          </a:xfrm>
          <a:prstGeom prst="ellipse">
            <a:avLst/>
          </a:prstGeom>
          <a:solidFill>
            <a:srgbClr val="02C39A"/>
          </a:solidFill>
          <a:ln/>
          <a:effectLst>
            <a:outerShdw blurRad="101600" dist="38100" dir="8100000" algn="bl" rotWithShape="0">
              <a:srgbClr val="000000">
                <a:alpha val="12000"/>
              </a:srgbClr>
            </a:outerShdw>
          </a:effectLst>
        </p:spPr>
      </p:sp>
      <p:sp>
        <p:nvSpPr>
          <p:cNvPr id="10" name="Text 7"/>
          <p:cNvSpPr/>
          <p:nvPr/>
        </p:nvSpPr>
        <p:spPr>
          <a:xfrm>
            <a:off x="2651760" y="1444752"/>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2</a:t>
            </a:r>
            <a:endParaRPr lang="en-US" sz="1400" dirty="0"/>
          </a:p>
        </p:txBody>
      </p:sp>
      <p:sp>
        <p:nvSpPr>
          <p:cNvPr id="11" name="Shape 8"/>
          <p:cNvSpPr/>
          <p:nvPr/>
        </p:nvSpPr>
        <p:spPr>
          <a:xfrm>
            <a:off x="3291840" y="1371600"/>
            <a:ext cx="5577840" cy="621792"/>
          </a:xfrm>
          <a:prstGeom prst="rect">
            <a:avLst/>
          </a:prstGeom>
          <a:solidFill>
            <a:srgbClr val="FFFFFF"/>
          </a:solidFill>
          <a:ln/>
          <a:effectLst>
            <a:outerShdw blurRad="101600" dist="38100" dir="8100000" algn="bl" rotWithShape="0">
              <a:srgbClr val="000000">
                <a:alpha val="12000"/>
              </a:srgbClr>
            </a:outerShdw>
          </a:effectLst>
        </p:spPr>
      </p:sp>
      <p:sp>
        <p:nvSpPr>
          <p:cNvPr id="12" name="Text 9"/>
          <p:cNvSpPr/>
          <p:nvPr/>
        </p:nvSpPr>
        <p:spPr>
          <a:xfrm>
            <a:off x="3429000" y="1371600"/>
            <a:ext cx="5349240" cy="621792"/>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Guide students in selecting the right career path in technology.</a:t>
            </a:r>
            <a:endParaRPr lang="en-US" sz="1300" dirty="0"/>
          </a:p>
        </p:txBody>
      </p:sp>
      <p:sp>
        <p:nvSpPr>
          <p:cNvPr id="13" name="Shape 10"/>
          <p:cNvSpPr/>
          <p:nvPr/>
        </p:nvSpPr>
        <p:spPr>
          <a:xfrm>
            <a:off x="2651760" y="2313432"/>
            <a:ext cx="475488" cy="475488"/>
          </a:xfrm>
          <a:prstGeom prst="ellipse">
            <a:avLst/>
          </a:prstGeom>
          <a:solidFill>
            <a:srgbClr val="02C39A"/>
          </a:solidFill>
          <a:ln/>
          <a:effectLst>
            <a:outerShdw blurRad="101600" dist="38100" dir="8100000" algn="bl" rotWithShape="0">
              <a:srgbClr val="000000">
                <a:alpha val="12000"/>
              </a:srgbClr>
            </a:outerShdw>
          </a:effectLst>
        </p:spPr>
      </p:sp>
      <p:sp>
        <p:nvSpPr>
          <p:cNvPr id="14" name="Text 11"/>
          <p:cNvSpPr/>
          <p:nvPr/>
        </p:nvSpPr>
        <p:spPr>
          <a:xfrm>
            <a:off x="2651760" y="2313432"/>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3</a:t>
            </a:r>
            <a:endParaRPr lang="en-US" sz="1400" dirty="0"/>
          </a:p>
        </p:txBody>
      </p:sp>
      <p:sp>
        <p:nvSpPr>
          <p:cNvPr id="15" name="Shape 12"/>
          <p:cNvSpPr/>
          <p:nvPr/>
        </p:nvSpPr>
        <p:spPr>
          <a:xfrm>
            <a:off x="3291840" y="2240280"/>
            <a:ext cx="5577840" cy="621792"/>
          </a:xfrm>
          <a:prstGeom prst="rect">
            <a:avLst/>
          </a:prstGeom>
          <a:solidFill>
            <a:srgbClr val="FFFFFF"/>
          </a:solidFill>
          <a:ln/>
          <a:effectLst>
            <a:outerShdw blurRad="101600" dist="38100" dir="8100000" algn="bl" rotWithShape="0">
              <a:srgbClr val="000000">
                <a:alpha val="12000"/>
              </a:srgbClr>
            </a:outerShdw>
          </a:effectLst>
        </p:spPr>
      </p:sp>
      <p:sp>
        <p:nvSpPr>
          <p:cNvPr id="16" name="Text 13"/>
          <p:cNvSpPr/>
          <p:nvPr/>
        </p:nvSpPr>
        <p:spPr>
          <a:xfrm>
            <a:off x="3429000" y="2240280"/>
            <a:ext cx="5349240" cy="621792"/>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Generate a structured, step-by-step learning roadmap.</a:t>
            </a:r>
            <a:endParaRPr lang="en-US" sz="1300" dirty="0"/>
          </a:p>
        </p:txBody>
      </p:sp>
      <p:sp>
        <p:nvSpPr>
          <p:cNvPr id="17" name="Shape 14"/>
          <p:cNvSpPr/>
          <p:nvPr/>
        </p:nvSpPr>
        <p:spPr>
          <a:xfrm>
            <a:off x="2651760" y="3182112"/>
            <a:ext cx="475488" cy="475488"/>
          </a:xfrm>
          <a:prstGeom prst="ellipse">
            <a:avLst/>
          </a:prstGeom>
          <a:solidFill>
            <a:srgbClr val="02C39A"/>
          </a:solidFill>
          <a:ln/>
          <a:effectLst>
            <a:outerShdw blurRad="101600" dist="38100" dir="8100000" algn="bl" rotWithShape="0">
              <a:srgbClr val="000000">
                <a:alpha val="12000"/>
              </a:srgbClr>
            </a:outerShdw>
          </a:effectLst>
        </p:spPr>
      </p:sp>
      <p:sp>
        <p:nvSpPr>
          <p:cNvPr id="18" name="Text 15"/>
          <p:cNvSpPr/>
          <p:nvPr/>
        </p:nvSpPr>
        <p:spPr>
          <a:xfrm>
            <a:off x="2651760" y="3182112"/>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4</a:t>
            </a:r>
            <a:endParaRPr lang="en-US" sz="1400" dirty="0"/>
          </a:p>
        </p:txBody>
      </p:sp>
      <p:sp>
        <p:nvSpPr>
          <p:cNvPr id="19" name="Shape 16"/>
          <p:cNvSpPr/>
          <p:nvPr/>
        </p:nvSpPr>
        <p:spPr>
          <a:xfrm>
            <a:off x="3291840" y="3108960"/>
            <a:ext cx="5577840" cy="621792"/>
          </a:xfrm>
          <a:prstGeom prst="rect">
            <a:avLst/>
          </a:prstGeom>
          <a:solidFill>
            <a:srgbClr val="FFFFFF"/>
          </a:solidFill>
          <a:ln/>
          <a:effectLst>
            <a:outerShdw blurRad="101600" dist="38100" dir="8100000" algn="bl" rotWithShape="0">
              <a:srgbClr val="000000">
                <a:alpha val="12000"/>
              </a:srgbClr>
            </a:outerShdw>
          </a:effectLst>
        </p:spPr>
      </p:sp>
      <p:sp>
        <p:nvSpPr>
          <p:cNvPr id="20" name="Text 17"/>
          <p:cNvSpPr/>
          <p:nvPr/>
        </p:nvSpPr>
        <p:spPr>
          <a:xfrm>
            <a:off x="3429000" y="3108960"/>
            <a:ext cx="5349240" cy="621792"/>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Provide daily tasks to keep students on track and consistent.</a:t>
            </a:r>
            <a:endParaRPr lang="en-US" sz="1300" dirty="0"/>
          </a:p>
        </p:txBody>
      </p:sp>
      <p:sp>
        <p:nvSpPr>
          <p:cNvPr id="21" name="Shape 18"/>
          <p:cNvSpPr/>
          <p:nvPr/>
        </p:nvSpPr>
        <p:spPr>
          <a:xfrm>
            <a:off x="2651760" y="4050792"/>
            <a:ext cx="475488" cy="475488"/>
          </a:xfrm>
          <a:prstGeom prst="ellipse">
            <a:avLst/>
          </a:prstGeom>
          <a:solidFill>
            <a:srgbClr val="02C39A"/>
          </a:solidFill>
          <a:ln/>
          <a:effectLst>
            <a:outerShdw blurRad="101600" dist="38100" dir="8100000" algn="bl" rotWithShape="0">
              <a:srgbClr val="000000">
                <a:alpha val="12000"/>
              </a:srgbClr>
            </a:outerShdw>
          </a:effectLst>
        </p:spPr>
      </p:sp>
      <p:sp>
        <p:nvSpPr>
          <p:cNvPr id="22" name="Text 19"/>
          <p:cNvSpPr/>
          <p:nvPr/>
        </p:nvSpPr>
        <p:spPr>
          <a:xfrm>
            <a:off x="2651760" y="4050792"/>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5</a:t>
            </a:r>
            <a:endParaRPr lang="en-US" sz="1400" dirty="0"/>
          </a:p>
        </p:txBody>
      </p:sp>
      <p:sp>
        <p:nvSpPr>
          <p:cNvPr id="23" name="Shape 20"/>
          <p:cNvSpPr/>
          <p:nvPr/>
        </p:nvSpPr>
        <p:spPr>
          <a:xfrm>
            <a:off x="3291840" y="3977640"/>
            <a:ext cx="5577840" cy="621792"/>
          </a:xfrm>
          <a:prstGeom prst="rect">
            <a:avLst/>
          </a:prstGeom>
          <a:solidFill>
            <a:srgbClr val="FFFFFF"/>
          </a:solidFill>
          <a:ln/>
          <a:effectLst>
            <a:outerShdw blurRad="101600" dist="38100" dir="8100000" algn="bl" rotWithShape="0">
              <a:srgbClr val="000000">
                <a:alpha val="12000"/>
              </a:srgbClr>
            </a:outerShdw>
          </a:effectLst>
        </p:spPr>
      </p:sp>
      <p:sp>
        <p:nvSpPr>
          <p:cNvPr id="24" name="Text 21"/>
          <p:cNvSpPr/>
          <p:nvPr/>
        </p:nvSpPr>
        <p:spPr>
          <a:xfrm>
            <a:off x="3429000" y="3977640"/>
            <a:ext cx="5349240" cy="621792"/>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Track student progress through roadmap task completion.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C7293"/>
          </a:solidFill>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Scope of the Project</a:t>
            </a:r>
            <a:endParaRPr lang="en-US" sz="2800" dirty="0"/>
          </a:p>
        </p:txBody>
      </p:sp>
      <p:sp>
        <p:nvSpPr>
          <p:cNvPr id="4" name="Shape 2"/>
          <p:cNvSpPr/>
          <p:nvPr/>
        </p:nvSpPr>
        <p:spPr>
          <a:xfrm>
            <a:off x="274320" y="914400"/>
            <a:ext cx="4023360" cy="3886200"/>
          </a:xfrm>
          <a:prstGeom prst="rect">
            <a:avLst/>
          </a:prstGeom>
          <a:solidFill>
            <a:srgbClr val="065A82"/>
          </a:solidFill>
          <a:ln/>
          <a:effectLst>
            <a:outerShdw blurRad="101600" dist="38100" dir="8100000" algn="bl" rotWithShape="0">
              <a:srgbClr val="000000">
                <a:alpha val="12000"/>
              </a:srgbClr>
            </a:outerShdw>
          </a:effectLst>
        </p:spPr>
      </p:sp>
      <p:sp>
        <p:nvSpPr>
          <p:cNvPr id="5" name="Text 3"/>
          <p:cNvSpPr/>
          <p:nvPr/>
        </p:nvSpPr>
        <p:spPr>
          <a:xfrm>
            <a:off x="457200" y="1024128"/>
            <a:ext cx="3657600" cy="457200"/>
          </a:xfrm>
          <a:prstGeom prst="rect">
            <a:avLst/>
          </a:prstGeom>
          <a:noFill/>
          <a:ln/>
        </p:spPr>
        <p:txBody>
          <a:bodyPr wrap="square" lIns="0" tIns="0" rIns="0" bIns="0" rtlCol="0" anchor="ctr"/>
          <a:lstStyle/>
          <a:p>
            <a:pPr marL="0" indent="0">
              <a:buNone/>
            </a:pPr>
            <a:r>
              <a:rPr lang="en-US" sz="1700" b="1" dirty="0">
                <a:solidFill>
                  <a:srgbClr val="02C39A"/>
                </a:solidFill>
                <a:latin typeface="Calibri" pitchFamily="34" charset="0"/>
                <a:ea typeface="Calibri" pitchFamily="34" charset="-122"/>
                <a:cs typeface="Calibri" pitchFamily="34" charset="-120"/>
              </a:rPr>
              <a:t>Target Programs</a:t>
            </a:r>
            <a:endParaRPr lang="en-US" sz="1700" dirty="0"/>
          </a:p>
        </p:txBody>
      </p:sp>
      <p:sp>
        <p:nvSpPr>
          <p:cNvPr id="6" name="Shape 4"/>
          <p:cNvSpPr/>
          <p:nvPr/>
        </p:nvSpPr>
        <p:spPr>
          <a:xfrm>
            <a:off x="457200" y="1600200"/>
            <a:ext cx="3566160" cy="457200"/>
          </a:xfrm>
          <a:prstGeom prst="rect">
            <a:avLst/>
          </a:prstGeom>
          <a:solidFill>
            <a:srgbClr val="1C7293">
              <a:alpha val="50000"/>
            </a:srgbClr>
          </a:solidFill>
          <a:ln/>
        </p:spPr>
      </p:sp>
      <p:sp>
        <p:nvSpPr>
          <p:cNvPr id="7" name="Text 5"/>
          <p:cNvSpPr/>
          <p:nvPr/>
        </p:nvSpPr>
        <p:spPr>
          <a:xfrm>
            <a:off x="594360" y="1600200"/>
            <a:ext cx="329184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B.Tech</a:t>
            </a:r>
            <a:endParaRPr lang="en-US" sz="1300" dirty="0"/>
          </a:p>
        </p:txBody>
      </p:sp>
      <p:sp>
        <p:nvSpPr>
          <p:cNvPr id="8" name="Shape 6"/>
          <p:cNvSpPr/>
          <p:nvPr/>
        </p:nvSpPr>
        <p:spPr>
          <a:xfrm>
            <a:off x="457200" y="2167128"/>
            <a:ext cx="3566160" cy="457200"/>
          </a:xfrm>
          <a:prstGeom prst="rect">
            <a:avLst/>
          </a:prstGeom>
          <a:solidFill>
            <a:srgbClr val="1C7293">
              <a:alpha val="50000"/>
            </a:srgbClr>
          </a:solidFill>
          <a:ln/>
        </p:spPr>
      </p:sp>
      <p:sp>
        <p:nvSpPr>
          <p:cNvPr id="9" name="Text 7"/>
          <p:cNvSpPr/>
          <p:nvPr/>
        </p:nvSpPr>
        <p:spPr>
          <a:xfrm>
            <a:off x="594360" y="2167128"/>
            <a:ext cx="329184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BCA</a:t>
            </a:r>
            <a:endParaRPr lang="en-US" sz="1300" dirty="0"/>
          </a:p>
        </p:txBody>
      </p:sp>
      <p:sp>
        <p:nvSpPr>
          <p:cNvPr id="10" name="Shape 8"/>
          <p:cNvSpPr/>
          <p:nvPr/>
        </p:nvSpPr>
        <p:spPr>
          <a:xfrm>
            <a:off x="457200" y="2734056"/>
            <a:ext cx="3566160" cy="457200"/>
          </a:xfrm>
          <a:prstGeom prst="rect">
            <a:avLst/>
          </a:prstGeom>
          <a:solidFill>
            <a:srgbClr val="1C7293">
              <a:alpha val="50000"/>
            </a:srgbClr>
          </a:solidFill>
          <a:ln/>
        </p:spPr>
      </p:sp>
      <p:sp>
        <p:nvSpPr>
          <p:cNvPr id="11" name="Text 9"/>
          <p:cNvSpPr/>
          <p:nvPr/>
        </p:nvSpPr>
        <p:spPr>
          <a:xfrm>
            <a:off x="594360" y="2734056"/>
            <a:ext cx="329184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BSc Computer Science</a:t>
            </a:r>
            <a:endParaRPr lang="en-US" sz="1300" dirty="0"/>
          </a:p>
        </p:txBody>
      </p:sp>
      <p:sp>
        <p:nvSpPr>
          <p:cNvPr id="12" name="Shape 10"/>
          <p:cNvSpPr/>
          <p:nvPr/>
        </p:nvSpPr>
        <p:spPr>
          <a:xfrm>
            <a:off x="457200" y="3300984"/>
            <a:ext cx="3566160" cy="457200"/>
          </a:xfrm>
          <a:prstGeom prst="rect">
            <a:avLst/>
          </a:prstGeom>
          <a:solidFill>
            <a:srgbClr val="1C7293">
              <a:alpha val="50000"/>
            </a:srgbClr>
          </a:solidFill>
          <a:ln/>
        </p:spPr>
      </p:sp>
      <p:sp>
        <p:nvSpPr>
          <p:cNvPr id="13" name="Text 11"/>
          <p:cNvSpPr/>
          <p:nvPr/>
        </p:nvSpPr>
        <p:spPr>
          <a:xfrm>
            <a:off x="594360" y="3300984"/>
            <a:ext cx="329184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MCA</a:t>
            </a:r>
            <a:endParaRPr lang="en-US" sz="1300" dirty="0"/>
          </a:p>
        </p:txBody>
      </p:sp>
      <p:sp>
        <p:nvSpPr>
          <p:cNvPr id="14" name="Shape 12"/>
          <p:cNvSpPr/>
          <p:nvPr/>
        </p:nvSpPr>
        <p:spPr>
          <a:xfrm>
            <a:off x="457200" y="3867912"/>
            <a:ext cx="3566160" cy="457200"/>
          </a:xfrm>
          <a:prstGeom prst="rect">
            <a:avLst/>
          </a:prstGeom>
          <a:solidFill>
            <a:srgbClr val="1C7293">
              <a:alpha val="50000"/>
            </a:srgbClr>
          </a:solidFill>
          <a:ln/>
        </p:spPr>
      </p:sp>
      <p:sp>
        <p:nvSpPr>
          <p:cNvPr id="15" name="Text 13"/>
          <p:cNvSpPr/>
          <p:nvPr/>
        </p:nvSpPr>
        <p:spPr>
          <a:xfrm>
            <a:off x="594360" y="3867912"/>
            <a:ext cx="329184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Diploma in IT</a:t>
            </a:r>
            <a:endParaRPr lang="en-US" sz="1300" dirty="0"/>
          </a:p>
        </p:txBody>
      </p:sp>
      <p:sp>
        <p:nvSpPr>
          <p:cNvPr id="16" name="Shape 14"/>
          <p:cNvSpPr/>
          <p:nvPr/>
        </p:nvSpPr>
        <p:spPr>
          <a:xfrm>
            <a:off x="4846320" y="914400"/>
            <a:ext cx="4023360" cy="3886200"/>
          </a:xfrm>
          <a:prstGeom prst="rect">
            <a:avLst/>
          </a:prstGeom>
          <a:solidFill>
            <a:srgbClr val="FFFFFF"/>
          </a:solidFill>
          <a:ln/>
          <a:effectLst>
            <a:outerShdw blurRad="101600" dist="38100" dir="8100000" algn="bl" rotWithShape="0">
              <a:srgbClr val="000000">
                <a:alpha val="12000"/>
              </a:srgbClr>
            </a:outerShdw>
          </a:effectLst>
        </p:spPr>
      </p:sp>
      <p:sp>
        <p:nvSpPr>
          <p:cNvPr id="17" name="Shape 15"/>
          <p:cNvSpPr/>
          <p:nvPr/>
        </p:nvSpPr>
        <p:spPr>
          <a:xfrm>
            <a:off x="4846320" y="914400"/>
            <a:ext cx="73152" cy="3886200"/>
          </a:xfrm>
          <a:prstGeom prst="rect">
            <a:avLst/>
          </a:prstGeom>
          <a:solidFill>
            <a:srgbClr val="02C39A"/>
          </a:solidFill>
          <a:ln/>
        </p:spPr>
      </p:sp>
      <p:sp>
        <p:nvSpPr>
          <p:cNvPr id="18" name="Text 16"/>
          <p:cNvSpPr/>
          <p:nvPr/>
        </p:nvSpPr>
        <p:spPr>
          <a:xfrm>
            <a:off x="5074920" y="1024128"/>
            <a:ext cx="3566160" cy="45720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Career Fields</a:t>
            </a:r>
            <a:endParaRPr lang="en-US" sz="1700" dirty="0"/>
          </a:p>
        </p:txBody>
      </p:sp>
      <p:pic>
        <p:nvPicPr>
          <p:cNvPr id="19" name="Image 0" descr="preencoded.png"/>
          <p:cNvPicPr>
            <a:picLocks noChangeAspect="1"/>
          </p:cNvPicPr>
          <p:nvPr/>
        </p:nvPicPr>
        <p:blipFill>
          <a:blip r:embed="rId3"/>
          <a:stretch>
            <a:fillRect/>
          </a:stretch>
        </p:blipFill>
        <p:spPr>
          <a:xfrm>
            <a:off x="5074920" y="1664208"/>
            <a:ext cx="347472" cy="347472"/>
          </a:xfrm>
          <a:prstGeom prst="rect">
            <a:avLst/>
          </a:prstGeom>
        </p:spPr>
      </p:pic>
      <p:sp>
        <p:nvSpPr>
          <p:cNvPr id="20" name="Text 17"/>
          <p:cNvSpPr/>
          <p:nvPr/>
        </p:nvSpPr>
        <p:spPr>
          <a:xfrm>
            <a:off x="5577840" y="1664208"/>
            <a:ext cx="3017520" cy="347472"/>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Web Development</a:t>
            </a:r>
            <a:endParaRPr lang="en-US" sz="1300" dirty="0"/>
          </a:p>
        </p:txBody>
      </p:sp>
      <p:pic>
        <p:nvPicPr>
          <p:cNvPr id="21" name="Image 1" descr="preencoded.png"/>
          <p:cNvPicPr>
            <a:picLocks noChangeAspect="1"/>
          </p:cNvPicPr>
          <p:nvPr/>
        </p:nvPicPr>
        <p:blipFill>
          <a:blip r:embed="rId4"/>
          <a:stretch>
            <a:fillRect/>
          </a:stretch>
        </p:blipFill>
        <p:spPr>
          <a:xfrm>
            <a:off x="5074920" y="2212848"/>
            <a:ext cx="347472" cy="347472"/>
          </a:xfrm>
          <a:prstGeom prst="rect">
            <a:avLst/>
          </a:prstGeom>
        </p:spPr>
      </p:pic>
      <p:sp>
        <p:nvSpPr>
          <p:cNvPr id="22" name="Text 18"/>
          <p:cNvSpPr/>
          <p:nvPr/>
        </p:nvSpPr>
        <p:spPr>
          <a:xfrm>
            <a:off x="5577840" y="2212848"/>
            <a:ext cx="3017520" cy="347472"/>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AI / Machine Learning</a:t>
            </a:r>
            <a:endParaRPr lang="en-US" sz="1300" dirty="0"/>
          </a:p>
        </p:txBody>
      </p:sp>
      <p:pic>
        <p:nvPicPr>
          <p:cNvPr id="23" name="Image 2" descr="preencoded.png"/>
          <p:cNvPicPr>
            <a:picLocks noChangeAspect="1"/>
          </p:cNvPicPr>
          <p:nvPr/>
        </p:nvPicPr>
        <p:blipFill>
          <a:blip r:embed="rId5"/>
          <a:stretch>
            <a:fillRect/>
          </a:stretch>
        </p:blipFill>
        <p:spPr>
          <a:xfrm>
            <a:off x="5074920" y="2761488"/>
            <a:ext cx="347472" cy="347472"/>
          </a:xfrm>
          <a:prstGeom prst="rect">
            <a:avLst/>
          </a:prstGeom>
        </p:spPr>
      </p:pic>
      <p:sp>
        <p:nvSpPr>
          <p:cNvPr id="24" name="Text 19"/>
          <p:cNvSpPr/>
          <p:nvPr/>
        </p:nvSpPr>
        <p:spPr>
          <a:xfrm>
            <a:off x="5577840" y="2761488"/>
            <a:ext cx="3017520" cy="347472"/>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Data Science</a:t>
            </a:r>
            <a:endParaRPr lang="en-US" sz="1300" dirty="0"/>
          </a:p>
        </p:txBody>
      </p:sp>
      <p:pic>
        <p:nvPicPr>
          <p:cNvPr id="25" name="Image 3" descr="preencoded.png"/>
          <p:cNvPicPr>
            <a:picLocks noChangeAspect="1"/>
          </p:cNvPicPr>
          <p:nvPr/>
        </p:nvPicPr>
        <p:blipFill>
          <a:blip r:embed="rId6"/>
          <a:stretch>
            <a:fillRect/>
          </a:stretch>
        </p:blipFill>
        <p:spPr>
          <a:xfrm>
            <a:off x="5074920" y="3310128"/>
            <a:ext cx="347472" cy="347472"/>
          </a:xfrm>
          <a:prstGeom prst="rect">
            <a:avLst/>
          </a:prstGeom>
        </p:spPr>
      </p:pic>
      <p:sp>
        <p:nvSpPr>
          <p:cNvPr id="26" name="Text 20"/>
          <p:cNvSpPr/>
          <p:nvPr/>
        </p:nvSpPr>
        <p:spPr>
          <a:xfrm>
            <a:off x="5577840" y="3310128"/>
            <a:ext cx="3017520" cy="347472"/>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Cyber Security</a:t>
            </a:r>
            <a:endParaRPr lang="en-US" sz="1300" dirty="0"/>
          </a:p>
        </p:txBody>
      </p:sp>
      <p:pic>
        <p:nvPicPr>
          <p:cNvPr id="27" name="Image 4" descr="preencoded.png"/>
          <p:cNvPicPr>
            <a:picLocks noChangeAspect="1"/>
          </p:cNvPicPr>
          <p:nvPr/>
        </p:nvPicPr>
        <p:blipFill>
          <a:blip r:embed="rId7"/>
          <a:stretch>
            <a:fillRect/>
          </a:stretch>
        </p:blipFill>
        <p:spPr>
          <a:xfrm>
            <a:off x="5074920" y="3858768"/>
            <a:ext cx="347472" cy="347472"/>
          </a:xfrm>
          <a:prstGeom prst="rect">
            <a:avLst/>
          </a:prstGeom>
        </p:spPr>
      </p:pic>
      <p:sp>
        <p:nvSpPr>
          <p:cNvPr id="28" name="Text 21"/>
          <p:cNvSpPr/>
          <p:nvPr/>
        </p:nvSpPr>
        <p:spPr>
          <a:xfrm>
            <a:off x="5577840" y="3858768"/>
            <a:ext cx="3017520" cy="347472"/>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Mobile App Development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C39A"/>
          </a:solidFill>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Technologies Used</a:t>
            </a:r>
            <a:endParaRPr lang="en-US" sz="2800" dirty="0"/>
          </a:p>
        </p:txBody>
      </p:sp>
      <p:sp>
        <p:nvSpPr>
          <p:cNvPr id="4" name="Shape 2"/>
          <p:cNvSpPr/>
          <p:nvPr/>
        </p:nvSpPr>
        <p:spPr>
          <a:xfrm>
            <a:off x="274320" y="1005840"/>
            <a:ext cx="1965960" cy="1508760"/>
          </a:xfrm>
          <a:prstGeom prst="rect">
            <a:avLst/>
          </a:prstGeom>
          <a:solidFill>
            <a:srgbClr val="1C7293"/>
          </a:solidFill>
          <a:ln/>
          <a:effectLst>
            <a:outerShdw blurRad="101600" dist="38100" dir="8100000" algn="bl" rotWithShape="0">
              <a:srgbClr val="000000">
                <a:alpha val="12000"/>
              </a:srgbClr>
            </a:outerShdw>
          </a:effectLst>
        </p:spPr>
      </p:sp>
      <p:sp>
        <p:nvSpPr>
          <p:cNvPr id="5" name="Shape 3"/>
          <p:cNvSpPr/>
          <p:nvPr/>
        </p:nvSpPr>
        <p:spPr>
          <a:xfrm>
            <a:off x="274320" y="1005840"/>
            <a:ext cx="1965960" cy="73152"/>
          </a:xfrm>
          <a:prstGeom prst="rect">
            <a:avLst/>
          </a:prstGeom>
          <a:solidFill>
            <a:srgbClr val="02C39A"/>
          </a:solidFill>
          <a:ln/>
        </p:spPr>
      </p:sp>
      <p:sp>
        <p:nvSpPr>
          <p:cNvPr id="6" name="Text 4"/>
          <p:cNvSpPr/>
          <p:nvPr/>
        </p:nvSpPr>
        <p:spPr>
          <a:xfrm>
            <a:off x="365760" y="1170432"/>
            <a:ext cx="1783080" cy="41148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Node.js</a:t>
            </a:r>
            <a:endParaRPr lang="en-US" sz="1400" dirty="0"/>
          </a:p>
        </p:txBody>
      </p:sp>
      <p:sp>
        <p:nvSpPr>
          <p:cNvPr id="7" name="Text 5"/>
          <p:cNvSpPr/>
          <p:nvPr/>
        </p:nvSpPr>
        <p:spPr>
          <a:xfrm>
            <a:off x="365760" y="1600200"/>
            <a:ext cx="1783080" cy="7772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Backend runtime environment</a:t>
            </a:r>
            <a:endParaRPr lang="en-US" sz="1100" dirty="0"/>
          </a:p>
        </p:txBody>
      </p:sp>
      <p:sp>
        <p:nvSpPr>
          <p:cNvPr id="8" name="Shape 6"/>
          <p:cNvSpPr/>
          <p:nvPr/>
        </p:nvSpPr>
        <p:spPr>
          <a:xfrm>
            <a:off x="2450592" y="1005840"/>
            <a:ext cx="1965960" cy="1508760"/>
          </a:xfrm>
          <a:prstGeom prst="rect">
            <a:avLst/>
          </a:prstGeom>
          <a:solidFill>
            <a:srgbClr val="065A82"/>
          </a:solidFill>
          <a:ln/>
          <a:effectLst>
            <a:outerShdw blurRad="101600" dist="38100" dir="8100000" algn="bl" rotWithShape="0">
              <a:srgbClr val="000000">
                <a:alpha val="12000"/>
              </a:srgbClr>
            </a:outerShdw>
          </a:effectLst>
        </p:spPr>
      </p:sp>
      <p:sp>
        <p:nvSpPr>
          <p:cNvPr id="9" name="Shape 7"/>
          <p:cNvSpPr/>
          <p:nvPr/>
        </p:nvSpPr>
        <p:spPr>
          <a:xfrm>
            <a:off x="2450592" y="1005840"/>
            <a:ext cx="1965960" cy="73152"/>
          </a:xfrm>
          <a:prstGeom prst="rect">
            <a:avLst/>
          </a:prstGeom>
          <a:solidFill>
            <a:srgbClr val="02C39A"/>
          </a:solidFill>
          <a:ln/>
        </p:spPr>
      </p:sp>
      <p:sp>
        <p:nvSpPr>
          <p:cNvPr id="10" name="Text 8"/>
          <p:cNvSpPr/>
          <p:nvPr/>
        </p:nvSpPr>
        <p:spPr>
          <a:xfrm>
            <a:off x="2542032" y="1170432"/>
            <a:ext cx="1783080" cy="41148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Express.js</a:t>
            </a:r>
            <a:endParaRPr lang="en-US" sz="1400" dirty="0"/>
          </a:p>
        </p:txBody>
      </p:sp>
      <p:sp>
        <p:nvSpPr>
          <p:cNvPr id="11" name="Text 9"/>
          <p:cNvSpPr/>
          <p:nvPr/>
        </p:nvSpPr>
        <p:spPr>
          <a:xfrm>
            <a:off x="2542032" y="1600200"/>
            <a:ext cx="1783080" cy="7772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REST API framework</a:t>
            </a:r>
            <a:endParaRPr lang="en-US" sz="1100" dirty="0"/>
          </a:p>
        </p:txBody>
      </p:sp>
      <p:sp>
        <p:nvSpPr>
          <p:cNvPr id="12" name="Shape 10"/>
          <p:cNvSpPr/>
          <p:nvPr/>
        </p:nvSpPr>
        <p:spPr>
          <a:xfrm>
            <a:off x="4626864" y="1005840"/>
            <a:ext cx="1965960" cy="1508760"/>
          </a:xfrm>
          <a:prstGeom prst="rect">
            <a:avLst/>
          </a:prstGeom>
          <a:solidFill>
            <a:srgbClr val="03045E"/>
          </a:solidFill>
          <a:ln/>
          <a:effectLst>
            <a:outerShdw blurRad="101600" dist="38100" dir="8100000" algn="bl" rotWithShape="0">
              <a:srgbClr val="000000">
                <a:alpha val="12000"/>
              </a:srgbClr>
            </a:outerShdw>
          </a:effectLst>
        </p:spPr>
      </p:sp>
      <p:sp>
        <p:nvSpPr>
          <p:cNvPr id="13" name="Shape 11"/>
          <p:cNvSpPr/>
          <p:nvPr/>
        </p:nvSpPr>
        <p:spPr>
          <a:xfrm>
            <a:off x="4626864" y="1005840"/>
            <a:ext cx="1965960" cy="73152"/>
          </a:xfrm>
          <a:prstGeom prst="rect">
            <a:avLst/>
          </a:prstGeom>
          <a:solidFill>
            <a:srgbClr val="02C39A"/>
          </a:solidFill>
          <a:ln/>
        </p:spPr>
      </p:sp>
      <p:sp>
        <p:nvSpPr>
          <p:cNvPr id="14" name="Text 12"/>
          <p:cNvSpPr/>
          <p:nvPr/>
        </p:nvSpPr>
        <p:spPr>
          <a:xfrm>
            <a:off x="4718304" y="1170432"/>
            <a:ext cx="1783080" cy="41148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MySQL</a:t>
            </a:r>
            <a:endParaRPr lang="en-US" sz="1400" dirty="0"/>
          </a:p>
        </p:txBody>
      </p:sp>
      <p:sp>
        <p:nvSpPr>
          <p:cNvPr id="15" name="Text 13"/>
          <p:cNvSpPr/>
          <p:nvPr/>
        </p:nvSpPr>
        <p:spPr>
          <a:xfrm>
            <a:off x="4718304" y="1600200"/>
            <a:ext cx="1783080" cy="7772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Relational database storage</a:t>
            </a:r>
            <a:endParaRPr lang="en-US" sz="1100" dirty="0"/>
          </a:p>
        </p:txBody>
      </p:sp>
      <p:sp>
        <p:nvSpPr>
          <p:cNvPr id="16" name="Shape 14"/>
          <p:cNvSpPr/>
          <p:nvPr/>
        </p:nvSpPr>
        <p:spPr>
          <a:xfrm>
            <a:off x="6803136" y="1005840"/>
            <a:ext cx="1965960" cy="1508760"/>
          </a:xfrm>
          <a:prstGeom prst="rect">
            <a:avLst/>
          </a:prstGeom>
          <a:solidFill>
            <a:srgbClr val="023E58"/>
          </a:solidFill>
          <a:ln/>
          <a:effectLst>
            <a:outerShdw blurRad="101600" dist="38100" dir="8100000" algn="bl" rotWithShape="0">
              <a:srgbClr val="000000">
                <a:alpha val="12000"/>
              </a:srgbClr>
            </a:outerShdw>
          </a:effectLst>
        </p:spPr>
      </p:sp>
      <p:sp>
        <p:nvSpPr>
          <p:cNvPr id="17" name="Shape 15"/>
          <p:cNvSpPr/>
          <p:nvPr/>
        </p:nvSpPr>
        <p:spPr>
          <a:xfrm>
            <a:off x="6803136" y="1005840"/>
            <a:ext cx="1965960" cy="73152"/>
          </a:xfrm>
          <a:prstGeom prst="rect">
            <a:avLst/>
          </a:prstGeom>
          <a:solidFill>
            <a:srgbClr val="02C39A"/>
          </a:solidFill>
          <a:ln/>
        </p:spPr>
      </p:sp>
      <p:sp>
        <p:nvSpPr>
          <p:cNvPr id="18" name="Text 16"/>
          <p:cNvSpPr/>
          <p:nvPr/>
        </p:nvSpPr>
        <p:spPr>
          <a:xfrm>
            <a:off x="6894576" y="1170432"/>
            <a:ext cx="1783080" cy="41148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Sequelize ORM</a:t>
            </a:r>
            <a:endParaRPr lang="en-US" sz="1400" dirty="0"/>
          </a:p>
        </p:txBody>
      </p:sp>
      <p:sp>
        <p:nvSpPr>
          <p:cNvPr id="19" name="Text 17"/>
          <p:cNvSpPr/>
          <p:nvPr/>
        </p:nvSpPr>
        <p:spPr>
          <a:xfrm>
            <a:off x="6894576" y="1600200"/>
            <a:ext cx="1783080" cy="7772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Database models &amp; query manager</a:t>
            </a:r>
            <a:endParaRPr lang="en-US" sz="1100" dirty="0"/>
          </a:p>
        </p:txBody>
      </p:sp>
      <p:sp>
        <p:nvSpPr>
          <p:cNvPr id="20" name="Shape 18"/>
          <p:cNvSpPr/>
          <p:nvPr/>
        </p:nvSpPr>
        <p:spPr>
          <a:xfrm>
            <a:off x="274320" y="2834640"/>
            <a:ext cx="1965960" cy="1508760"/>
          </a:xfrm>
          <a:prstGeom prst="rect">
            <a:avLst/>
          </a:prstGeom>
          <a:solidFill>
            <a:srgbClr val="1C7293"/>
          </a:solidFill>
          <a:ln/>
          <a:effectLst>
            <a:outerShdw blurRad="101600" dist="38100" dir="8100000" algn="bl" rotWithShape="0">
              <a:srgbClr val="000000">
                <a:alpha val="12000"/>
              </a:srgbClr>
            </a:outerShdw>
          </a:effectLst>
        </p:spPr>
      </p:sp>
      <p:sp>
        <p:nvSpPr>
          <p:cNvPr id="21" name="Shape 19"/>
          <p:cNvSpPr/>
          <p:nvPr/>
        </p:nvSpPr>
        <p:spPr>
          <a:xfrm>
            <a:off x="274320" y="2834640"/>
            <a:ext cx="1965960" cy="73152"/>
          </a:xfrm>
          <a:prstGeom prst="rect">
            <a:avLst/>
          </a:prstGeom>
          <a:solidFill>
            <a:srgbClr val="02C39A"/>
          </a:solidFill>
          <a:ln/>
        </p:spPr>
      </p:sp>
      <p:sp>
        <p:nvSpPr>
          <p:cNvPr id="22" name="Text 20"/>
          <p:cNvSpPr/>
          <p:nvPr/>
        </p:nvSpPr>
        <p:spPr>
          <a:xfrm>
            <a:off x="365760" y="2999232"/>
            <a:ext cx="1783080" cy="41148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Body Parser</a:t>
            </a:r>
            <a:endParaRPr lang="en-US" sz="1400" dirty="0"/>
          </a:p>
        </p:txBody>
      </p:sp>
      <p:sp>
        <p:nvSpPr>
          <p:cNvPr id="23" name="Text 21"/>
          <p:cNvSpPr/>
          <p:nvPr/>
        </p:nvSpPr>
        <p:spPr>
          <a:xfrm>
            <a:off x="365760" y="3429000"/>
            <a:ext cx="1783080" cy="7772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Request body parsing middleware</a:t>
            </a:r>
            <a:endParaRPr lang="en-US" sz="1100" dirty="0"/>
          </a:p>
        </p:txBody>
      </p:sp>
      <p:sp>
        <p:nvSpPr>
          <p:cNvPr id="24" name="Shape 22"/>
          <p:cNvSpPr/>
          <p:nvPr/>
        </p:nvSpPr>
        <p:spPr>
          <a:xfrm>
            <a:off x="2450592" y="2834640"/>
            <a:ext cx="1965960" cy="1508760"/>
          </a:xfrm>
          <a:prstGeom prst="rect">
            <a:avLst/>
          </a:prstGeom>
          <a:solidFill>
            <a:srgbClr val="065A82"/>
          </a:solidFill>
          <a:ln/>
          <a:effectLst>
            <a:outerShdw blurRad="101600" dist="38100" dir="8100000" algn="bl" rotWithShape="0">
              <a:srgbClr val="000000">
                <a:alpha val="12000"/>
              </a:srgbClr>
            </a:outerShdw>
          </a:effectLst>
        </p:spPr>
      </p:sp>
      <p:sp>
        <p:nvSpPr>
          <p:cNvPr id="25" name="Shape 23"/>
          <p:cNvSpPr/>
          <p:nvPr/>
        </p:nvSpPr>
        <p:spPr>
          <a:xfrm>
            <a:off x="2450592" y="2834640"/>
            <a:ext cx="1965960" cy="73152"/>
          </a:xfrm>
          <a:prstGeom prst="rect">
            <a:avLst/>
          </a:prstGeom>
          <a:solidFill>
            <a:srgbClr val="02C39A"/>
          </a:solidFill>
          <a:ln/>
        </p:spPr>
      </p:sp>
      <p:sp>
        <p:nvSpPr>
          <p:cNvPr id="26" name="Text 24"/>
          <p:cNvSpPr/>
          <p:nvPr/>
        </p:nvSpPr>
        <p:spPr>
          <a:xfrm>
            <a:off x="2542032" y="2999232"/>
            <a:ext cx="1783080" cy="41148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Postman</a:t>
            </a:r>
            <a:endParaRPr lang="en-US" sz="1400" dirty="0"/>
          </a:p>
        </p:txBody>
      </p:sp>
      <p:sp>
        <p:nvSpPr>
          <p:cNvPr id="27" name="Text 25"/>
          <p:cNvSpPr/>
          <p:nvPr/>
        </p:nvSpPr>
        <p:spPr>
          <a:xfrm>
            <a:off x="2542032" y="3429000"/>
            <a:ext cx="1783080" cy="7772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API testing and debugging tool</a:t>
            </a:r>
            <a:endParaRPr lang="en-US" sz="1100" dirty="0"/>
          </a:p>
        </p:txBody>
      </p:sp>
      <p:sp>
        <p:nvSpPr>
          <p:cNvPr id="28" name="Shape 26"/>
          <p:cNvSpPr/>
          <p:nvPr/>
        </p:nvSpPr>
        <p:spPr>
          <a:xfrm>
            <a:off x="4626864" y="2834640"/>
            <a:ext cx="1965960" cy="1508760"/>
          </a:xfrm>
          <a:prstGeom prst="rect">
            <a:avLst/>
          </a:prstGeom>
          <a:solidFill>
            <a:srgbClr val="03045E"/>
          </a:solidFill>
          <a:ln/>
          <a:effectLst>
            <a:outerShdw blurRad="101600" dist="38100" dir="8100000" algn="bl" rotWithShape="0">
              <a:srgbClr val="000000">
                <a:alpha val="12000"/>
              </a:srgbClr>
            </a:outerShdw>
          </a:effectLst>
        </p:spPr>
      </p:sp>
      <p:sp>
        <p:nvSpPr>
          <p:cNvPr id="29" name="Shape 27"/>
          <p:cNvSpPr/>
          <p:nvPr/>
        </p:nvSpPr>
        <p:spPr>
          <a:xfrm>
            <a:off x="4626864" y="2834640"/>
            <a:ext cx="1965960" cy="73152"/>
          </a:xfrm>
          <a:prstGeom prst="rect">
            <a:avLst/>
          </a:prstGeom>
          <a:solidFill>
            <a:srgbClr val="02C39A"/>
          </a:solidFill>
          <a:ln/>
        </p:spPr>
      </p:sp>
      <p:sp>
        <p:nvSpPr>
          <p:cNvPr id="30" name="Text 28"/>
          <p:cNvSpPr/>
          <p:nvPr/>
        </p:nvSpPr>
        <p:spPr>
          <a:xfrm>
            <a:off x="4718304" y="2999232"/>
            <a:ext cx="1783080" cy="41148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ES Modules</a:t>
            </a:r>
            <a:endParaRPr lang="en-US" sz="1400" dirty="0"/>
          </a:p>
        </p:txBody>
      </p:sp>
      <p:sp>
        <p:nvSpPr>
          <p:cNvPr id="31" name="Text 29"/>
          <p:cNvSpPr/>
          <p:nvPr/>
        </p:nvSpPr>
        <p:spPr>
          <a:xfrm>
            <a:off x="4718304" y="3429000"/>
            <a:ext cx="1783080" cy="7772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Import/export in Node.js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4" name="Shape 2"/>
          <p:cNvSpPr/>
          <p:nvPr/>
        </p:nvSpPr>
        <p:spPr>
          <a:xfrm>
            <a:off x="731520" y="960120"/>
            <a:ext cx="7680960" cy="804672"/>
          </a:xfrm>
          <a:prstGeom prst="rect">
            <a:avLst/>
          </a:prstGeom>
          <a:solidFill>
            <a:srgbClr val="02C39A"/>
          </a:solidFill>
          <a:ln/>
          <a:effectLst>
            <a:outerShdw blurRad="101600" dist="38100" dir="8100000" algn="bl" rotWithShape="0">
              <a:srgbClr val="000000">
                <a:alpha val="12000"/>
              </a:srgbClr>
            </a:outerShdw>
          </a:effectLst>
        </p:spPr>
      </p:sp>
      <p:sp>
        <p:nvSpPr>
          <p:cNvPr id="5" name="Text 3"/>
          <p:cNvSpPr/>
          <p:nvPr/>
        </p:nvSpPr>
        <p:spPr>
          <a:xfrm>
            <a:off x="914400" y="1005840"/>
            <a:ext cx="3657600" cy="365760"/>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User Interface (Frontend)</a:t>
            </a:r>
            <a:endParaRPr lang="en-US" sz="1500" dirty="0"/>
          </a:p>
        </p:txBody>
      </p:sp>
      <p:sp>
        <p:nvSpPr>
          <p:cNvPr id="6" name="Text 4"/>
          <p:cNvSpPr/>
          <p:nvPr/>
        </p:nvSpPr>
        <p:spPr>
          <a:xfrm>
            <a:off x="914400" y="1380744"/>
            <a:ext cx="7132320" cy="320040"/>
          </a:xfrm>
          <a:prstGeom prst="rect">
            <a:avLst/>
          </a:prstGeom>
          <a:noFill/>
          <a:ln/>
        </p:spPr>
        <p:txBody>
          <a:bodyPr wrap="square" lIns="0" tIns="0" rIns="0" bIns="0" rtlCol="0" anchor="ctr"/>
          <a:lstStyle/>
          <a:p>
            <a:pPr marL="0" indent="0">
              <a:buNone/>
            </a:pPr>
            <a:r>
              <a:rPr lang="en-US" sz="1100" dirty="0">
                <a:solidFill>
                  <a:srgbClr val="036B52"/>
                </a:solidFill>
                <a:latin typeface="Calibri" pitchFamily="34" charset="0"/>
                <a:ea typeface="Calibri" pitchFamily="34" charset="-122"/>
                <a:cs typeface="Calibri" pitchFamily="34" charset="-120"/>
              </a:rPr>
              <a:t>Student Portal — Registration, Profiles, Roadmaps, Tasks</a:t>
            </a:r>
            <a:endParaRPr lang="en-US" sz="1100" dirty="0"/>
          </a:p>
        </p:txBody>
      </p:sp>
      <p:sp>
        <p:nvSpPr>
          <p:cNvPr id="7" name="Shape 5"/>
          <p:cNvSpPr/>
          <p:nvPr/>
        </p:nvSpPr>
        <p:spPr>
          <a:xfrm>
            <a:off x="4434840" y="1764792"/>
            <a:ext cx="274320" cy="182880"/>
          </a:xfrm>
          <a:prstGeom prst="rect">
            <a:avLst/>
          </a:prstGeom>
          <a:solidFill>
            <a:srgbClr val="02C39A"/>
          </a:solidFill>
          <a:ln/>
        </p:spPr>
      </p:sp>
      <p:sp>
        <p:nvSpPr>
          <p:cNvPr id="8" name="Shape 6"/>
          <p:cNvSpPr/>
          <p:nvPr/>
        </p:nvSpPr>
        <p:spPr>
          <a:xfrm>
            <a:off x="731520" y="1947672"/>
            <a:ext cx="7680960" cy="804672"/>
          </a:xfrm>
          <a:prstGeom prst="rect">
            <a:avLst/>
          </a:prstGeom>
          <a:solidFill>
            <a:srgbClr val="1C7293"/>
          </a:solidFill>
          <a:ln/>
          <a:effectLst>
            <a:outerShdw blurRad="101600" dist="38100" dir="8100000" algn="bl" rotWithShape="0">
              <a:srgbClr val="000000">
                <a:alpha val="12000"/>
              </a:srgbClr>
            </a:outerShdw>
          </a:effectLst>
        </p:spPr>
      </p:sp>
      <p:sp>
        <p:nvSpPr>
          <p:cNvPr id="9" name="Text 7"/>
          <p:cNvSpPr/>
          <p:nvPr/>
        </p:nvSpPr>
        <p:spPr>
          <a:xfrm>
            <a:off x="914400" y="1993392"/>
            <a:ext cx="36576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API Layer (Express.js)</a:t>
            </a:r>
            <a:endParaRPr lang="en-US" sz="1500" dirty="0"/>
          </a:p>
        </p:txBody>
      </p:sp>
      <p:sp>
        <p:nvSpPr>
          <p:cNvPr id="10" name="Text 8"/>
          <p:cNvSpPr/>
          <p:nvPr/>
        </p:nvSpPr>
        <p:spPr>
          <a:xfrm>
            <a:off x="914400" y="2368296"/>
            <a:ext cx="713232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REST Endpoints — Auth, Profiles, Subjects, Roadmaps, Tasks</a:t>
            </a:r>
            <a:endParaRPr lang="en-US" sz="1100" dirty="0"/>
          </a:p>
        </p:txBody>
      </p:sp>
      <p:sp>
        <p:nvSpPr>
          <p:cNvPr id="11" name="Shape 9"/>
          <p:cNvSpPr/>
          <p:nvPr/>
        </p:nvSpPr>
        <p:spPr>
          <a:xfrm>
            <a:off x="4434840" y="2752344"/>
            <a:ext cx="274320" cy="182880"/>
          </a:xfrm>
          <a:prstGeom prst="rect">
            <a:avLst/>
          </a:prstGeom>
          <a:solidFill>
            <a:srgbClr val="02C39A"/>
          </a:solidFill>
          <a:ln/>
        </p:spPr>
      </p:sp>
      <p:sp>
        <p:nvSpPr>
          <p:cNvPr id="12" name="Shape 10"/>
          <p:cNvSpPr/>
          <p:nvPr/>
        </p:nvSpPr>
        <p:spPr>
          <a:xfrm>
            <a:off x="731520" y="2935224"/>
            <a:ext cx="7680960" cy="804672"/>
          </a:xfrm>
          <a:prstGeom prst="rect">
            <a:avLst/>
          </a:prstGeom>
          <a:solidFill>
            <a:srgbClr val="065A82"/>
          </a:solidFill>
          <a:ln/>
          <a:effectLst>
            <a:outerShdw blurRad="101600" dist="38100" dir="8100000" algn="bl" rotWithShape="0">
              <a:srgbClr val="000000">
                <a:alpha val="12000"/>
              </a:srgbClr>
            </a:outerShdw>
          </a:effectLst>
        </p:spPr>
      </p:sp>
      <p:sp>
        <p:nvSpPr>
          <p:cNvPr id="13" name="Text 11"/>
          <p:cNvSpPr/>
          <p:nvPr/>
        </p:nvSpPr>
        <p:spPr>
          <a:xfrm>
            <a:off x="914400" y="2980944"/>
            <a:ext cx="36576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Business Logic Layer</a:t>
            </a:r>
            <a:endParaRPr lang="en-US" sz="1500" dirty="0"/>
          </a:p>
        </p:txBody>
      </p:sp>
      <p:sp>
        <p:nvSpPr>
          <p:cNvPr id="14" name="Text 12"/>
          <p:cNvSpPr/>
          <p:nvPr/>
        </p:nvSpPr>
        <p:spPr>
          <a:xfrm>
            <a:off x="914400" y="3355848"/>
            <a:ext cx="713232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Subject Analysis · Career Mapping · Roadmap Engine · Progress</a:t>
            </a:r>
            <a:endParaRPr lang="en-US" sz="1100" dirty="0"/>
          </a:p>
        </p:txBody>
      </p:sp>
      <p:sp>
        <p:nvSpPr>
          <p:cNvPr id="15" name="Shape 13"/>
          <p:cNvSpPr/>
          <p:nvPr/>
        </p:nvSpPr>
        <p:spPr>
          <a:xfrm>
            <a:off x="4434840" y="3739896"/>
            <a:ext cx="274320" cy="182880"/>
          </a:xfrm>
          <a:prstGeom prst="rect">
            <a:avLst/>
          </a:prstGeom>
          <a:solidFill>
            <a:srgbClr val="02C39A"/>
          </a:solidFill>
          <a:ln/>
        </p:spPr>
      </p:sp>
      <p:sp>
        <p:nvSpPr>
          <p:cNvPr id="16" name="Shape 14"/>
          <p:cNvSpPr/>
          <p:nvPr/>
        </p:nvSpPr>
        <p:spPr>
          <a:xfrm>
            <a:off x="731520" y="3922776"/>
            <a:ext cx="7680960" cy="804672"/>
          </a:xfrm>
          <a:prstGeom prst="rect">
            <a:avLst/>
          </a:prstGeom>
          <a:solidFill>
            <a:srgbClr val="0D1B2A"/>
          </a:solidFill>
          <a:ln/>
          <a:effectLst>
            <a:outerShdw blurRad="101600" dist="38100" dir="8100000" algn="bl" rotWithShape="0">
              <a:srgbClr val="000000">
                <a:alpha val="12000"/>
              </a:srgbClr>
            </a:outerShdw>
          </a:effectLst>
        </p:spPr>
      </p:sp>
      <p:sp>
        <p:nvSpPr>
          <p:cNvPr id="17" name="Text 15"/>
          <p:cNvSpPr/>
          <p:nvPr/>
        </p:nvSpPr>
        <p:spPr>
          <a:xfrm>
            <a:off x="914400" y="3968496"/>
            <a:ext cx="3657600" cy="365760"/>
          </a:xfrm>
          <a:prstGeom prst="rect">
            <a:avLst/>
          </a:prstGeom>
          <a:noFill/>
          <a:ln/>
        </p:spPr>
        <p:txBody>
          <a:bodyPr wrap="square" lIns="0" tIns="0" rIns="0" bIns="0"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Database Layer (MySQL)</a:t>
            </a:r>
            <a:endParaRPr lang="en-US" sz="1500" dirty="0"/>
          </a:p>
        </p:txBody>
      </p:sp>
      <p:sp>
        <p:nvSpPr>
          <p:cNvPr id="18" name="Text 16"/>
          <p:cNvSpPr/>
          <p:nvPr/>
        </p:nvSpPr>
        <p:spPr>
          <a:xfrm>
            <a:off x="914400" y="4343400"/>
            <a:ext cx="713232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Users · Profiles · Subjects · Roadmaps · Tasks · Progress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C7293"/>
          </a:solidFill>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System Workflow</a:t>
            </a:r>
            <a:endParaRPr lang="en-US" sz="2800" dirty="0"/>
          </a:p>
        </p:txBody>
      </p:sp>
      <p:sp>
        <p:nvSpPr>
          <p:cNvPr id="4" name="Shape 2"/>
          <p:cNvSpPr/>
          <p:nvPr/>
        </p:nvSpPr>
        <p:spPr>
          <a:xfrm>
            <a:off x="457200" y="960120"/>
            <a:ext cx="2606040" cy="1005840"/>
          </a:xfrm>
          <a:prstGeom prst="rect">
            <a:avLst/>
          </a:prstGeom>
          <a:solidFill>
            <a:srgbClr val="065A82"/>
          </a:solidFill>
          <a:ln/>
          <a:effectLst>
            <a:outerShdw blurRad="101600" dist="38100" dir="8100000" algn="bl" rotWithShape="0">
              <a:srgbClr val="000000">
                <a:alpha val="12000"/>
              </a:srgbClr>
            </a:outerShdw>
          </a:effectLst>
        </p:spPr>
      </p:sp>
      <p:sp>
        <p:nvSpPr>
          <p:cNvPr id="5" name="Shape 3"/>
          <p:cNvSpPr/>
          <p:nvPr/>
        </p:nvSpPr>
        <p:spPr>
          <a:xfrm>
            <a:off x="548640" y="1216152"/>
            <a:ext cx="475488" cy="475488"/>
          </a:xfrm>
          <a:prstGeom prst="ellipse">
            <a:avLst/>
          </a:prstGeom>
          <a:solidFill>
            <a:srgbClr val="02C39A"/>
          </a:solidFill>
          <a:ln/>
        </p:spPr>
      </p:sp>
      <p:sp>
        <p:nvSpPr>
          <p:cNvPr id="6" name="Text 4"/>
          <p:cNvSpPr/>
          <p:nvPr/>
        </p:nvSpPr>
        <p:spPr>
          <a:xfrm>
            <a:off x="548640" y="1216152"/>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43000" y="1234440"/>
            <a:ext cx="1783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User Registration</a:t>
            </a:r>
            <a:endParaRPr lang="en-US" sz="1200" dirty="0"/>
          </a:p>
        </p:txBody>
      </p:sp>
      <p:sp>
        <p:nvSpPr>
          <p:cNvPr id="8" name="Shape 6"/>
          <p:cNvSpPr/>
          <p:nvPr/>
        </p:nvSpPr>
        <p:spPr>
          <a:xfrm>
            <a:off x="3383280" y="960120"/>
            <a:ext cx="2606040" cy="1005840"/>
          </a:xfrm>
          <a:prstGeom prst="rect">
            <a:avLst/>
          </a:prstGeom>
          <a:solidFill>
            <a:srgbClr val="065A82"/>
          </a:solidFill>
          <a:ln/>
          <a:effectLst>
            <a:outerShdw blurRad="101600" dist="38100" dir="8100000" algn="bl" rotWithShape="0">
              <a:srgbClr val="000000">
                <a:alpha val="12000"/>
              </a:srgbClr>
            </a:outerShdw>
          </a:effectLst>
        </p:spPr>
      </p:sp>
      <p:sp>
        <p:nvSpPr>
          <p:cNvPr id="9" name="Shape 7"/>
          <p:cNvSpPr/>
          <p:nvPr/>
        </p:nvSpPr>
        <p:spPr>
          <a:xfrm>
            <a:off x="3474720" y="1216152"/>
            <a:ext cx="475488" cy="475488"/>
          </a:xfrm>
          <a:prstGeom prst="ellipse">
            <a:avLst/>
          </a:prstGeom>
          <a:solidFill>
            <a:srgbClr val="02C39A"/>
          </a:solidFill>
          <a:ln/>
        </p:spPr>
      </p:sp>
      <p:sp>
        <p:nvSpPr>
          <p:cNvPr id="10" name="Text 8"/>
          <p:cNvSpPr/>
          <p:nvPr/>
        </p:nvSpPr>
        <p:spPr>
          <a:xfrm>
            <a:off x="3474720" y="1216152"/>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4069080" y="1234440"/>
            <a:ext cx="1783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User Login</a:t>
            </a:r>
            <a:endParaRPr lang="en-US" sz="1200" dirty="0"/>
          </a:p>
        </p:txBody>
      </p:sp>
      <p:sp>
        <p:nvSpPr>
          <p:cNvPr id="12" name="Shape 10"/>
          <p:cNvSpPr/>
          <p:nvPr/>
        </p:nvSpPr>
        <p:spPr>
          <a:xfrm>
            <a:off x="6309360" y="960120"/>
            <a:ext cx="2606040" cy="1005840"/>
          </a:xfrm>
          <a:prstGeom prst="rect">
            <a:avLst/>
          </a:prstGeom>
          <a:solidFill>
            <a:srgbClr val="065A82"/>
          </a:solidFill>
          <a:ln/>
          <a:effectLst>
            <a:outerShdw blurRad="101600" dist="38100" dir="8100000" algn="bl" rotWithShape="0">
              <a:srgbClr val="000000">
                <a:alpha val="12000"/>
              </a:srgbClr>
            </a:outerShdw>
          </a:effectLst>
        </p:spPr>
      </p:sp>
      <p:sp>
        <p:nvSpPr>
          <p:cNvPr id="13" name="Shape 11"/>
          <p:cNvSpPr/>
          <p:nvPr/>
        </p:nvSpPr>
        <p:spPr>
          <a:xfrm>
            <a:off x="6400800" y="1216152"/>
            <a:ext cx="475488" cy="475488"/>
          </a:xfrm>
          <a:prstGeom prst="ellipse">
            <a:avLst/>
          </a:prstGeom>
          <a:solidFill>
            <a:srgbClr val="02C39A"/>
          </a:solidFill>
          <a:ln/>
        </p:spPr>
      </p:sp>
      <p:sp>
        <p:nvSpPr>
          <p:cNvPr id="14" name="Text 12"/>
          <p:cNvSpPr/>
          <p:nvPr/>
        </p:nvSpPr>
        <p:spPr>
          <a:xfrm>
            <a:off x="6400800" y="1216152"/>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6995160" y="1234440"/>
            <a:ext cx="1783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Academic Profile Setup</a:t>
            </a:r>
            <a:endParaRPr lang="en-US" sz="1200" dirty="0"/>
          </a:p>
        </p:txBody>
      </p:sp>
      <p:sp>
        <p:nvSpPr>
          <p:cNvPr id="16" name="Shape 14"/>
          <p:cNvSpPr/>
          <p:nvPr/>
        </p:nvSpPr>
        <p:spPr>
          <a:xfrm>
            <a:off x="457200" y="2221992"/>
            <a:ext cx="2606040" cy="1005840"/>
          </a:xfrm>
          <a:prstGeom prst="rect">
            <a:avLst/>
          </a:prstGeom>
          <a:solidFill>
            <a:srgbClr val="065A82"/>
          </a:solidFill>
          <a:ln/>
          <a:effectLst>
            <a:outerShdw blurRad="101600" dist="38100" dir="8100000" algn="bl" rotWithShape="0">
              <a:srgbClr val="000000">
                <a:alpha val="12000"/>
              </a:srgbClr>
            </a:outerShdw>
          </a:effectLst>
        </p:spPr>
      </p:sp>
      <p:sp>
        <p:nvSpPr>
          <p:cNvPr id="17" name="Shape 15"/>
          <p:cNvSpPr/>
          <p:nvPr/>
        </p:nvSpPr>
        <p:spPr>
          <a:xfrm>
            <a:off x="548640" y="2478024"/>
            <a:ext cx="475488" cy="475488"/>
          </a:xfrm>
          <a:prstGeom prst="ellipse">
            <a:avLst/>
          </a:prstGeom>
          <a:solidFill>
            <a:srgbClr val="02C39A"/>
          </a:solidFill>
          <a:ln/>
        </p:spPr>
      </p:sp>
      <p:sp>
        <p:nvSpPr>
          <p:cNvPr id="18" name="Text 16"/>
          <p:cNvSpPr/>
          <p:nvPr/>
        </p:nvSpPr>
        <p:spPr>
          <a:xfrm>
            <a:off x="548640" y="2478024"/>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143000" y="2496312"/>
            <a:ext cx="1783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Subject Input</a:t>
            </a:r>
            <a:endParaRPr lang="en-US" sz="1200" dirty="0"/>
          </a:p>
        </p:txBody>
      </p:sp>
      <p:sp>
        <p:nvSpPr>
          <p:cNvPr id="20" name="Shape 18"/>
          <p:cNvSpPr/>
          <p:nvPr/>
        </p:nvSpPr>
        <p:spPr>
          <a:xfrm>
            <a:off x="3383280" y="2221992"/>
            <a:ext cx="2606040" cy="1005840"/>
          </a:xfrm>
          <a:prstGeom prst="rect">
            <a:avLst/>
          </a:prstGeom>
          <a:solidFill>
            <a:srgbClr val="065A82"/>
          </a:solidFill>
          <a:ln/>
          <a:effectLst>
            <a:outerShdw blurRad="101600" dist="38100" dir="8100000" algn="bl" rotWithShape="0">
              <a:srgbClr val="000000">
                <a:alpha val="12000"/>
              </a:srgbClr>
            </a:outerShdw>
          </a:effectLst>
        </p:spPr>
      </p:sp>
      <p:sp>
        <p:nvSpPr>
          <p:cNvPr id="21" name="Shape 19"/>
          <p:cNvSpPr/>
          <p:nvPr/>
        </p:nvSpPr>
        <p:spPr>
          <a:xfrm>
            <a:off x="3474720" y="2478024"/>
            <a:ext cx="475488" cy="475488"/>
          </a:xfrm>
          <a:prstGeom prst="ellipse">
            <a:avLst/>
          </a:prstGeom>
          <a:solidFill>
            <a:srgbClr val="02C39A"/>
          </a:solidFill>
          <a:ln/>
        </p:spPr>
      </p:sp>
      <p:sp>
        <p:nvSpPr>
          <p:cNvPr id="22" name="Text 20"/>
          <p:cNvSpPr/>
          <p:nvPr/>
        </p:nvSpPr>
        <p:spPr>
          <a:xfrm>
            <a:off x="3474720" y="2478024"/>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4069080" y="2496312"/>
            <a:ext cx="1783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Subject Analysis</a:t>
            </a:r>
            <a:endParaRPr lang="en-US" sz="1200" dirty="0"/>
          </a:p>
        </p:txBody>
      </p:sp>
      <p:sp>
        <p:nvSpPr>
          <p:cNvPr id="24" name="Shape 22"/>
          <p:cNvSpPr/>
          <p:nvPr/>
        </p:nvSpPr>
        <p:spPr>
          <a:xfrm>
            <a:off x="6309360" y="2221992"/>
            <a:ext cx="2606040" cy="1005840"/>
          </a:xfrm>
          <a:prstGeom prst="rect">
            <a:avLst/>
          </a:prstGeom>
          <a:solidFill>
            <a:srgbClr val="065A82"/>
          </a:solidFill>
          <a:ln/>
          <a:effectLst>
            <a:outerShdw blurRad="101600" dist="38100" dir="8100000" algn="bl" rotWithShape="0">
              <a:srgbClr val="000000">
                <a:alpha val="12000"/>
              </a:srgbClr>
            </a:outerShdw>
          </a:effectLst>
        </p:spPr>
      </p:sp>
      <p:sp>
        <p:nvSpPr>
          <p:cNvPr id="25" name="Shape 23"/>
          <p:cNvSpPr/>
          <p:nvPr/>
        </p:nvSpPr>
        <p:spPr>
          <a:xfrm>
            <a:off x="6400800" y="2478024"/>
            <a:ext cx="475488" cy="475488"/>
          </a:xfrm>
          <a:prstGeom prst="ellipse">
            <a:avLst/>
          </a:prstGeom>
          <a:solidFill>
            <a:srgbClr val="02C39A"/>
          </a:solidFill>
          <a:ln/>
        </p:spPr>
      </p:sp>
      <p:sp>
        <p:nvSpPr>
          <p:cNvPr id="26" name="Text 24"/>
          <p:cNvSpPr/>
          <p:nvPr/>
        </p:nvSpPr>
        <p:spPr>
          <a:xfrm>
            <a:off x="6400800" y="2478024"/>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6995160" y="2496312"/>
            <a:ext cx="1783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Career Field Selection</a:t>
            </a:r>
            <a:endParaRPr lang="en-US" sz="1200" dirty="0"/>
          </a:p>
        </p:txBody>
      </p:sp>
      <p:sp>
        <p:nvSpPr>
          <p:cNvPr id="28" name="Shape 26"/>
          <p:cNvSpPr/>
          <p:nvPr/>
        </p:nvSpPr>
        <p:spPr>
          <a:xfrm>
            <a:off x="457200" y="3483864"/>
            <a:ext cx="2606040" cy="1005840"/>
          </a:xfrm>
          <a:prstGeom prst="rect">
            <a:avLst/>
          </a:prstGeom>
          <a:solidFill>
            <a:srgbClr val="065A82"/>
          </a:solidFill>
          <a:ln/>
          <a:effectLst>
            <a:outerShdw blurRad="101600" dist="38100" dir="8100000" algn="bl" rotWithShape="0">
              <a:srgbClr val="000000">
                <a:alpha val="12000"/>
              </a:srgbClr>
            </a:outerShdw>
          </a:effectLst>
        </p:spPr>
      </p:sp>
      <p:sp>
        <p:nvSpPr>
          <p:cNvPr id="29" name="Shape 27"/>
          <p:cNvSpPr/>
          <p:nvPr/>
        </p:nvSpPr>
        <p:spPr>
          <a:xfrm>
            <a:off x="548640" y="3739896"/>
            <a:ext cx="475488" cy="475488"/>
          </a:xfrm>
          <a:prstGeom prst="ellipse">
            <a:avLst/>
          </a:prstGeom>
          <a:solidFill>
            <a:srgbClr val="02C39A"/>
          </a:solidFill>
          <a:ln/>
        </p:spPr>
      </p:sp>
      <p:sp>
        <p:nvSpPr>
          <p:cNvPr id="30" name="Text 28"/>
          <p:cNvSpPr/>
          <p:nvPr/>
        </p:nvSpPr>
        <p:spPr>
          <a:xfrm>
            <a:off x="548640" y="3739896"/>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7</a:t>
            </a:r>
            <a:endParaRPr lang="en-US" sz="1400" dirty="0"/>
          </a:p>
        </p:txBody>
      </p:sp>
      <p:sp>
        <p:nvSpPr>
          <p:cNvPr id="31" name="Text 29"/>
          <p:cNvSpPr/>
          <p:nvPr/>
        </p:nvSpPr>
        <p:spPr>
          <a:xfrm>
            <a:off x="1143000" y="3758184"/>
            <a:ext cx="1783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Roadmap Generation</a:t>
            </a:r>
            <a:endParaRPr lang="en-US" sz="1200" dirty="0"/>
          </a:p>
        </p:txBody>
      </p:sp>
      <p:sp>
        <p:nvSpPr>
          <p:cNvPr id="32" name="Shape 30"/>
          <p:cNvSpPr/>
          <p:nvPr/>
        </p:nvSpPr>
        <p:spPr>
          <a:xfrm>
            <a:off x="3383280" y="3483864"/>
            <a:ext cx="2606040" cy="1005840"/>
          </a:xfrm>
          <a:prstGeom prst="rect">
            <a:avLst/>
          </a:prstGeom>
          <a:solidFill>
            <a:srgbClr val="065A82"/>
          </a:solidFill>
          <a:ln/>
          <a:effectLst>
            <a:outerShdw blurRad="101600" dist="38100" dir="8100000" algn="bl" rotWithShape="0">
              <a:srgbClr val="000000">
                <a:alpha val="12000"/>
              </a:srgbClr>
            </a:outerShdw>
          </a:effectLst>
        </p:spPr>
      </p:sp>
      <p:sp>
        <p:nvSpPr>
          <p:cNvPr id="33" name="Shape 31"/>
          <p:cNvSpPr/>
          <p:nvPr/>
        </p:nvSpPr>
        <p:spPr>
          <a:xfrm>
            <a:off x="3474720" y="3739896"/>
            <a:ext cx="475488" cy="475488"/>
          </a:xfrm>
          <a:prstGeom prst="ellipse">
            <a:avLst/>
          </a:prstGeom>
          <a:solidFill>
            <a:srgbClr val="02C39A"/>
          </a:solidFill>
          <a:ln/>
        </p:spPr>
      </p:sp>
      <p:sp>
        <p:nvSpPr>
          <p:cNvPr id="34" name="Text 32"/>
          <p:cNvSpPr/>
          <p:nvPr/>
        </p:nvSpPr>
        <p:spPr>
          <a:xfrm>
            <a:off x="3474720" y="3739896"/>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8</a:t>
            </a:r>
            <a:endParaRPr lang="en-US" sz="1400" dirty="0"/>
          </a:p>
        </p:txBody>
      </p:sp>
      <p:sp>
        <p:nvSpPr>
          <p:cNvPr id="35" name="Text 33"/>
          <p:cNvSpPr/>
          <p:nvPr/>
        </p:nvSpPr>
        <p:spPr>
          <a:xfrm>
            <a:off x="4069080" y="3758184"/>
            <a:ext cx="1783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Daily Task Assignment</a:t>
            </a:r>
            <a:endParaRPr lang="en-US" sz="1200" dirty="0"/>
          </a:p>
        </p:txBody>
      </p:sp>
      <p:sp>
        <p:nvSpPr>
          <p:cNvPr id="36" name="Shape 34"/>
          <p:cNvSpPr/>
          <p:nvPr/>
        </p:nvSpPr>
        <p:spPr>
          <a:xfrm>
            <a:off x="6309360" y="3483864"/>
            <a:ext cx="2606040" cy="1005840"/>
          </a:xfrm>
          <a:prstGeom prst="rect">
            <a:avLst/>
          </a:prstGeom>
          <a:solidFill>
            <a:srgbClr val="065A82"/>
          </a:solidFill>
          <a:ln/>
          <a:effectLst>
            <a:outerShdw blurRad="101600" dist="38100" dir="8100000" algn="bl" rotWithShape="0">
              <a:srgbClr val="000000">
                <a:alpha val="12000"/>
              </a:srgbClr>
            </a:outerShdw>
          </a:effectLst>
        </p:spPr>
      </p:sp>
      <p:sp>
        <p:nvSpPr>
          <p:cNvPr id="37" name="Shape 35"/>
          <p:cNvSpPr/>
          <p:nvPr/>
        </p:nvSpPr>
        <p:spPr>
          <a:xfrm>
            <a:off x="6400800" y="3739896"/>
            <a:ext cx="475488" cy="475488"/>
          </a:xfrm>
          <a:prstGeom prst="ellipse">
            <a:avLst/>
          </a:prstGeom>
          <a:solidFill>
            <a:srgbClr val="02C39A"/>
          </a:solidFill>
          <a:ln/>
        </p:spPr>
      </p:sp>
      <p:sp>
        <p:nvSpPr>
          <p:cNvPr id="38" name="Text 36"/>
          <p:cNvSpPr/>
          <p:nvPr/>
        </p:nvSpPr>
        <p:spPr>
          <a:xfrm>
            <a:off x="6400800" y="3739896"/>
            <a:ext cx="475488" cy="475488"/>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9</a:t>
            </a:r>
            <a:endParaRPr lang="en-US" sz="1400" dirty="0"/>
          </a:p>
        </p:txBody>
      </p:sp>
      <p:sp>
        <p:nvSpPr>
          <p:cNvPr id="39" name="Text 37"/>
          <p:cNvSpPr/>
          <p:nvPr/>
        </p:nvSpPr>
        <p:spPr>
          <a:xfrm>
            <a:off x="6995160" y="3758184"/>
            <a:ext cx="1783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Progress Tracking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Features</a:t>
            </a:r>
            <a:endParaRPr lang="en-US" sz="2800" dirty="0"/>
          </a:p>
        </p:txBody>
      </p:sp>
      <p:sp>
        <p:nvSpPr>
          <p:cNvPr id="4" name="Shape 2"/>
          <p:cNvSpPr/>
          <p:nvPr/>
        </p:nvSpPr>
        <p:spPr>
          <a:xfrm>
            <a:off x="274320" y="960120"/>
            <a:ext cx="4160520" cy="1115568"/>
          </a:xfrm>
          <a:prstGeom prst="rect">
            <a:avLst/>
          </a:prstGeom>
          <a:solidFill>
            <a:srgbClr val="FFFFFF"/>
          </a:solidFill>
          <a:ln/>
          <a:effectLst>
            <a:outerShdw blurRad="101600" dist="38100" dir="8100000" algn="bl" rotWithShape="0">
              <a:srgbClr val="000000">
                <a:alpha val="12000"/>
              </a:srgbClr>
            </a:outerShdw>
          </a:effectLst>
        </p:spPr>
      </p:sp>
      <p:sp>
        <p:nvSpPr>
          <p:cNvPr id="5" name="Shape 3"/>
          <p:cNvSpPr/>
          <p:nvPr/>
        </p:nvSpPr>
        <p:spPr>
          <a:xfrm>
            <a:off x="274320" y="960120"/>
            <a:ext cx="73152" cy="1115568"/>
          </a:xfrm>
          <a:prstGeom prst="rect">
            <a:avLst/>
          </a:prstGeom>
          <a:solidFill>
            <a:srgbClr val="02C39A"/>
          </a:solidFill>
          <a:ln/>
        </p:spPr>
      </p:sp>
      <p:sp>
        <p:nvSpPr>
          <p:cNvPr id="6" name="Shape 4"/>
          <p:cNvSpPr/>
          <p:nvPr/>
        </p:nvSpPr>
        <p:spPr>
          <a:xfrm>
            <a:off x="457200" y="1252728"/>
            <a:ext cx="512064" cy="512064"/>
          </a:xfrm>
          <a:prstGeom prst="ellipse">
            <a:avLst/>
          </a:prstGeom>
          <a:solidFill>
            <a:srgbClr val="E0FAF4"/>
          </a:solidFill>
          <a:ln/>
        </p:spPr>
      </p:sp>
      <p:pic>
        <p:nvPicPr>
          <p:cNvPr id="7" name="Image 0" descr="preencoded.png"/>
          <p:cNvPicPr>
            <a:picLocks noChangeAspect="1"/>
          </p:cNvPicPr>
          <p:nvPr/>
        </p:nvPicPr>
        <p:blipFill>
          <a:blip r:embed="rId3"/>
          <a:stretch>
            <a:fillRect/>
          </a:stretch>
        </p:blipFill>
        <p:spPr>
          <a:xfrm>
            <a:off x="530352" y="1325880"/>
            <a:ext cx="347472" cy="347472"/>
          </a:xfrm>
          <a:prstGeom prst="rect">
            <a:avLst/>
          </a:prstGeom>
        </p:spPr>
      </p:pic>
      <p:sp>
        <p:nvSpPr>
          <p:cNvPr id="8" name="Text 5"/>
          <p:cNvSpPr/>
          <p:nvPr/>
        </p:nvSpPr>
        <p:spPr>
          <a:xfrm>
            <a:off x="1115568" y="1069848"/>
            <a:ext cx="3108960" cy="384048"/>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User Authentication</a:t>
            </a:r>
            <a:endParaRPr lang="en-US" sz="1400" dirty="0"/>
          </a:p>
        </p:txBody>
      </p:sp>
      <p:sp>
        <p:nvSpPr>
          <p:cNvPr id="9" name="Text 6"/>
          <p:cNvSpPr/>
          <p:nvPr/>
        </p:nvSpPr>
        <p:spPr>
          <a:xfrm>
            <a:off x="1115568" y="1463040"/>
            <a:ext cx="310896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Secure registration and login for all students.</a:t>
            </a:r>
            <a:endParaRPr lang="en-US" sz="1150" dirty="0"/>
          </a:p>
        </p:txBody>
      </p:sp>
      <p:sp>
        <p:nvSpPr>
          <p:cNvPr id="10" name="Shape 7"/>
          <p:cNvSpPr/>
          <p:nvPr/>
        </p:nvSpPr>
        <p:spPr>
          <a:xfrm>
            <a:off x="4754880" y="960120"/>
            <a:ext cx="4160520" cy="1115568"/>
          </a:xfrm>
          <a:prstGeom prst="rect">
            <a:avLst/>
          </a:prstGeom>
          <a:solidFill>
            <a:srgbClr val="FFFFFF"/>
          </a:solidFill>
          <a:ln/>
          <a:effectLst>
            <a:outerShdw blurRad="101600" dist="38100" dir="8100000" algn="bl" rotWithShape="0">
              <a:srgbClr val="000000">
                <a:alpha val="12000"/>
              </a:srgbClr>
            </a:outerShdw>
          </a:effectLst>
        </p:spPr>
      </p:sp>
      <p:sp>
        <p:nvSpPr>
          <p:cNvPr id="11" name="Shape 8"/>
          <p:cNvSpPr/>
          <p:nvPr/>
        </p:nvSpPr>
        <p:spPr>
          <a:xfrm>
            <a:off x="4754880" y="960120"/>
            <a:ext cx="73152" cy="1115568"/>
          </a:xfrm>
          <a:prstGeom prst="rect">
            <a:avLst/>
          </a:prstGeom>
          <a:solidFill>
            <a:srgbClr val="02C39A"/>
          </a:solidFill>
          <a:ln/>
        </p:spPr>
      </p:sp>
      <p:sp>
        <p:nvSpPr>
          <p:cNvPr id="12" name="Shape 9"/>
          <p:cNvSpPr/>
          <p:nvPr/>
        </p:nvSpPr>
        <p:spPr>
          <a:xfrm>
            <a:off x="4937760" y="1252728"/>
            <a:ext cx="512064" cy="512064"/>
          </a:xfrm>
          <a:prstGeom prst="ellipse">
            <a:avLst/>
          </a:prstGeom>
          <a:solidFill>
            <a:srgbClr val="E0FAF4"/>
          </a:solidFill>
          <a:ln/>
        </p:spPr>
      </p:sp>
      <p:pic>
        <p:nvPicPr>
          <p:cNvPr id="13" name="Image 1" descr="preencoded.png"/>
          <p:cNvPicPr>
            <a:picLocks noChangeAspect="1"/>
          </p:cNvPicPr>
          <p:nvPr/>
        </p:nvPicPr>
        <p:blipFill>
          <a:blip r:embed="rId4"/>
          <a:stretch>
            <a:fillRect/>
          </a:stretch>
        </p:blipFill>
        <p:spPr>
          <a:xfrm>
            <a:off x="5010912" y="1325880"/>
            <a:ext cx="347472" cy="347472"/>
          </a:xfrm>
          <a:prstGeom prst="rect">
            <a:avLst/>
          </a:prstGeom>
        </p:spPr>
      </p:pic>
      <p:sp>
        <p:nvSpPr>
          <p:cNvPr id="14" name="Text 10"/>
          <p:cNvSpPr/>
          <p:nvPr/>
        </p:nvSpPr>
        <p:spPr>
          <a:xfrm>
            <a:off x="5596128" y="1069848"/>
            <a:ext cx="3108960" cy="384048"/>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Academic Profile</a:t>
            </a:r>
            <a:endParaRPr lang="en-US" sz="1400" dirty="0"/>
          </a:p>
        </p:txBody>
      </p:sp>
      <p:sp>
        <p:nvSpPr>
          <p:cNvPr id="15" name="Text 11"/>
          <p:cNvSpPr/>
          <p:nvPr/>
        </p:nvSpPr>
        <p:spPr>
          <a:xfrm>
            <a:off x="5596128" y="1463040"/>
            <a:ext cx="310896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Students enter course and semester details.</a:t>
            </a:r>
            <a:endParaRPr lang="en-US" sz="1150" dirty="0"/>
          </a:p>
        </p:txBody>
      </p:sp>
      <p:sp>
        <p:nvSpPr>
          <p:cNvPr id="16" name="Shape 12"/>
          <p:cNvSpPr/>
          <p:nvPr/>
        </p:nvSpPr>
        <p:spPr>
          <a:xfrm>
            <a:off x="274320" y="2286000"/>
            <a:ext cx="4160520" cy="1115568"/>
          </a:xfrm>
          <a:prstGeom prst="rect">
            <a:avLst/>
          </a:prstGeom>
          <a:solidFill>
            <a:srgbClr val="FFFFFF"/>
          </a:solidFill>
          <a:ln/>
          <a:effectLst>
            <a:outerShdw blurRad="101600" dist="38100" dir="8100000" algn="bl" rotWithShape="0">
              <a:srgbClr val="000000">
                <a:alpha val="12000"/>
              </a:srgbClr>
            </a:outerShdw>
          </a:effectLst>
        </p:spPr>
      </p:sp>
      <p:sp>
        <p:nvSpPr>
          <p:cNvPr id="17" name="Shape 13"/>
          <p:cNvSpPr/>
          <p:nvPr/>
        </p:nvSpPr>
        <p:spPr>
          <a:xfrm>
            <a:off x="274320" y="2286000"/>
            <a:ext cx="73152" cy="1115568"/>
          </a:xfrm>
          <a:prstGeom prst="rect">
            <a:avLst/>
          </a:prstGeom>
          <a:solidFill>
            <a:srgbClr val="02C39A"/>
          </a:solidFill>
          <a:ln/>
        </p:spPr>
      </p:sp>
      <p:sp>
        <p:nvSpPr>
          <p:cNvPr id="18" name="Shape 14"/>
          <p:cNvSpPr/>
          <p:nvPr/>
        </p:nvSpPr>
        <p:spPr>
          <a:xfrm>
            <a:off x="457200" y="2578608"/>
            <a:ext cx="512064" cy="512064"/>
          </a:xfrm>
          <a:prstGeom prst="ellipse">
            <a:avLst/>
          </a:prstGeom>
          <a:solidFill>
            <a:srgbClr val="E0FAF4"/>
          </a:solidFill>
          <a:ln/>
        </p:spPr>
      </p:sp>
      <p:pic>
        <p:nvPicPr>
          <p:cNvPr id="19" name="Image 2" descr="preencoded.png"/>
          <p:cNvPicPr>
            <a:picLocks noChangeAspect="1"/>
          </p:cNvPicPr>
          <p:nvPr/>
        </p:nvPicPr>
        <p:blipFill>
          <a:blip r:embed="rId5"/>
          <a:stretch>
            <a:fillRect/>
          </a:stretch>
        </p:blipFill>
        <p:spPr>
          <a:xfrm>
            <a:off x="530352" y="2651760"/>
            <a:ext cx="347472" cy="347472"/>
          </a:xfrm>
          <a:prstGeom prst="rect">
            <a:avLst/>
          </a:prstGeom>
        </p:spPr>
      </p:pic>
      <p:sp>
        <p:nvSpPr>
          <p:cNvPr id="20" name="Text 15"/>
          <p:cNvSpPr/>
          <p:nvPr/>
        </p:nvSpPr>
        <p:spPr>
          <a:xfrm>
            <a:off x="1115568" y="2395728"/>
            <a:ext cx="3108960" cy="384048"/>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Subject Analysis</a:t>
            </a:r>
            <a:endParaRPr lang="en-US" sz="1400" dirty="0"/>
          </a:p>
        </p:txBody>
      </p:sp>
      <p:sp>
        <p:nvSpPr>
          <p:cNvPr id="21" name="Text 16"/>
          <p:cNvSpPr/>
          <p:nvPr/>
        </p:nvSpPr>
        <p:spPr>
          <a:xfrm>
            <a:off x="1115568" y="2788920"/>
            <a:ext cx="310896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System identifies career-relevant subjects.</a:t>
            </a:r>
            <a:endParaRPr lang="en-US" sz="1150" dirty="0"/>
          </a:p>
        </p:txBody>
      </p:sp>
      <p:sp>
        <p:nvSpPr>
          <p:cNvPr id="22" name="Shape 17"/>
          <p:cNvSpPr/>
          <p:nvPr/>
        </p:nvSpPr>
        <p:spPr>
          <a:xfrm>
            <a:off x="4754880" y="2286000"/>
            <a:ext cx="4160520" cy="1115568"/>
          </a:xfrm>
          <a:prstGeom prst="rect">
            <a:avLst/>
          </a:prstGeom>
          <a:solidFill>
            <a:srgbClr val="FFFFFF"/>
          </a:solidFill>
          <a:ln/>
          <a:effectLst>
            <a:outerShdw blurRad="101600" dist="38100" dir="8100000" algn="bl" rotWithShape="0">
              <a:srgbClr val="000000">
                <a:alpha val="12000"/>
              </a:srgbClr>
            </a:outerShdw>
          </a:effectLst>
        </p:spPr>
      </p:sp>
      <p:sp>
        <p:nvSpPr>
          <p:cNvPr id="23" name="Shape 18"/>
          <p:cNvSpPr/>
          <p:nvPr/>
        </p:nvSpPr>
        <p:spPr>
          <a:xfrm>
            <a:off x="4754880" y="2286000"/>
            <a:ext cx="73152" cy="1115568"/>
          </a:xfrm>
          <a:prstGeom prst="rect">
            <a:avLst/>
          </a:prstGeom>
          <a:solidFill>
            <a:srgbClr val="02C39A"/>
          </a:solidFill>
          <a:ln/>
        </p:spPr>
      </p:sp>
      <p:sp>
        <p:nvSpPr>
          <p:cNvPr id="24" name="Shape 19"/>
          <p:cNvSpPr/>
          <p:nvPr/>
        </p:nvSpPr>
        <p:spPr>
          <a:xfrm>
            <a:off x="4937760" y="2578608"/>
            <a:ext cx="512064" cy="512064"/>
          </a:xfrm>
          <a:prstGeom prst="ellipse">
            <a:avLst/>
          </a:prstGeom>
          <a:solidFill>
            <a:srgbClr val="E0FAF4"/>
          </a:solidFill>
          <a:ln/>
        </p:spPr>
      </p:sp>
      <p:pic>
        <p:nvPicPr>
          <p:cNvPr id="25" name="Image 3" descr="preencoded.png"/>
          <p:cNvPicPr>
            <a:picLocks noChangeAspect="1"/>
          </p:cNvPicPr>
          <p:nvPr/>
        </p:nvPicPr>
        <p:blipFill>
          <a:blip r:embed="rId6"/>
          <a:stretch>
            <a:fillRect/>
          </a:stretch>
        </p:blipFill>
        <p:spPr>
          <a:xfrm>
            <a:off x="5010912" y="2651760"/>
            <a:ext cx="347472" cy="347472"/>
          </a:xfrm>
          <a:prstGeom prst="rect">
            <a:avLst/>
          </a:prstGeom>
        </p:spPr>
      </p:pic>
      <p:sp>
        <p:nvSpPr>
          <p:cNvPr id="26" name="Text 20"/>
          <p:cNvSpPr/>
          <p:nvPr/>
        </p:nvSpPr>
        <p:spPr>
          <a:xfrm>
            <a:off x="5596128" y="2395728"/>
            <a:ext cx="3108960" cy="384048"/>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Career Selection</a:t>
            </a:r>
            <a:endParaRPr lang="en-US" sz="1400" dirty="0"/>
          </a:p>
        </p:txBody>
      </p:sp>
      <p:sp>
        <p:nvSpPr>
          <p:cNvPr id="27" name="Text 21"/>
          <p:cNvSpPr/>
          <p:nvPr/>
        </p:nvSpPr>
        <p:spPr>
          <a:xfrm>
            <a:off x="5596128" y="2788920"/>
            <a:ext cx="310896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Students pick their desired technology career.</a:t>
            </a:r>
            <a:endParaRPr lang="en-US" sz="1150" dirty="0"/>
          </a:p>
        </p:txBody>
      </p:sp>
      <p:sp>
        <p:nvSpPr>
          <p:cNvPr id="28" name="Shape 22"/>
          <p:cNvSpPr/>
          <p:nvPr/>
        </p:nvSpPr>
        <p:spPr>
          <a:xfrm>
            <a:off x="274320" y="3611880"/>
            <a:ext cx="4160520" cy="1115568"/>
          </a:xfrm>
          <a:prstGeom prst="rect">
            <a:avLst/>
          </a:prstGeom>
          <a:solidFill>
            <a:srgbClr val="FFFFFF"/>
          </a:solidFill>
          <a:ln/>
          <a:effectLst>
            <a:outerShdw blurRad="101600" dist="38100" dir="8100000" algn="bl" rotWithShape="0">
              <a:srgbClr val="000000">
                <a:alpha val="12000"/>
              </a:srgbClr>
            </a:outerShdw>
          </a:effectLst>
        </p:spPr>
      </p:sp>
      <p:sp>
        <p:nvSpPr>
          <p:cNvPr id="29" name="Shape 23"/>
          <p:cNvSpPr/>
          <p:nvPr/>
        </p:nvSpPr>
        <p:spPr>
          <a:xfrm>
            <a:off x="274320" y="3611880"/>
            <a:ext cx="73152" cy="1115568"/>
          </a:xfrm>
          <a:prstGeom prst="rect">
            <a:avLst/>
          </a:prstGeom>
          <a:solidFill>
            <a:srgbClr val="02C39A"/>
          </a:solidFill>
          <a:ln/>
        </p:spPr>
      </p:sp>
      <p:sp>
        <p:nvSpPr>
          <p:cNvPr id="30" name="Shape 24"/>
          <p:cNvSpPr/>
          <p:nvPr/>
        </p:nvSpPr>
        <p:spPr>
          <a:xfrm>
            <a:off x="457200" y="3904488"/>
            <a:ext cx="512064" cy="512064"/>
          </a:xfrm>
          <a:prstGeom prst="ellipse">
            <a:avLst/>
          </a:prstGeom>
          <a:solidFill>
            <a:srgbClr val="E0FAF4"/>
          </a:solidFill>
          <a:ln/>
        </p:spPr>
      </p:sp>
      <p:pic>
        <p:nvPicPr>
          <p:cNvPr id="31" name="Image 4" descr="preencoded.png"/>
          <p:cNvPicPr>
            <a:picLocks noChangeAspect="1"/>
          </p:cNvPicPr>
          <p:nvPr/>
        </p:nvPicPr>
        <p:blipFill>
          <a:blip r:embed="rId7"/>
          <a:stretch>
            <a:fillRect/>
          </a:stretch>
        </p:blipFill>
        <p:spPr>
          <a:xfrm>
            <a:off x="530352" y="3977640"/>
            <a:ext cx="347472" cy="347472"/>
          </a:xfrm>
          <a:prstGeom prst="rect">
            <a:avLst/>
          </a:prstGeom>
        </p:spPr>
      </p:pic>
      <p:sp>
        <p:nvSpPr>
          <p:cNvPr id="32" name="Text 25"/>
          <p:cNvSpPr/>
          <p:nvPr/>
        </p:nvSpPr>
        <p:spPr>
          <a:xfrm>
            <a:off x="1115568" y="3721608"/>
            <a:ext cx="3108960" cy="384048"/>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Roadmap Generation</a:t>
            </a:r>
            <a:endParaRPr lang="en-US" sz="1400" dirty="0"/>
          </a:p>
        </p:txBody>
      </p:sp>
      <p:sp>
        <p:nvSpPr>
          <p:cNvPr id="33" name="Text 26"/>
          <p:cNvSpPr/>
          <p:nvPr/>
        </p:nvSpPr>
        <p:spPr>
          <a:xfrm>
            <a:off x="1115568" y="4114800"/>
            <a:ext cx="310896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Step-by-step personalized learning roadmap.</a:t>
            </a:r>
            <a:endParaRPr lang="en-US" sz="1150" dirty="0"/>
          </a:p>
        </p:txBody>
      </p:sp>
      <p:sp>
        <p:nvSpPr>
          <p:cNvPr id="34" name="Shape 27"/>
          <p:cNvSpPr/>
          <p:nvPr/>
        </p:nvSpPr>
        <p:spPr>
          <a:xfrm>
            <a:off x="4754880" y="3611880"/>
            <a:ext cx="4160520" cy="1115568"/>
          </a:xfrm>
          <a:prstGeom prst="rect">
            <a:avLst/>
          </a:prstGeom>
          <a:solidFill>
            <a:srgbClr val="FFFFFF"/>
          </a:solidFill>
          <a:ln/>
          <a:effectLst>
            <a:outerShdw blurRad="101600" dist="38100" dir="8100000" algn="bl" rotWithShape="0">
              <a:srgbClr val="000000">
                <a:alpha val="12000"/>
              </a:srgbClr>
            </a:outerShdw>
          </a:effectLst>
        </p:spPr>
      </p:sp>
      <p:sp>
        <p:nvSpPr>
          <p:cNvPr id="35" name="Shape 28"/>
          <p:cNvSpPr/>
          <p:nvPr/>
        </p:nvSpPr>
        <p:spPr>
          <a:xfrm>
            <a:off x="4754880" y="3611880"/>
            <a:ext cx="73152" cy="1115568"/>
          </a:xfrm>
          <a:prstGeom prst="rect">
            <a:avLst/>
          </a:prstGeom>
          <a:solidFill>
            <a:srgbClr val="02C39A"/>
          </a:solidFill>
          <a:ln/>
        </p:spPr>
      </p:sp>
      <p:sp>
        <p:nvSpPr>
          <p:cNvPr id="36" name="Shape 29"/>
          <p:cNvSpPr/>
          <p:nvPr/>
        </p:nvSpPr>
        <p:spPr>
          <a:xfrm>
            <a:off x="4937760" y="3904488"/>
            <a:ext cx="512064" cy="512064"/>
          </a:xfrm>
          <a:prstGeom prst="ellipse">
            <a:avLst/>
          </a:prstGeom>
          <a:solidFill>
            <a:srgbClr val="E0FAF4"/>
          </a:solidFill>
          <a:ln/>
        </p:spPr>
      </p:sp>
      <p:pic>
        <p:nvPicPr>
          <p:cNvPr id="37" name="Image 5" descr="preencoded.png"/>
          <p:cNvPicPr>
            <a:picLocks noChangeAspect="1"/>
          </p:cNvPicPr>
          <p:nvPr/>
        </p:nvPicPr>
        <p:blipFill>
          <a:blip r:embed="rId8"/>
          <a:stretch>
            <a:fillRect/>
          </a:stretch>
        </p:blipFill>
        <p:spPr>
          <a:xfrm>
            <a:off x="5010912" y="3977640"/>
            <a:ext cx="347472" cy="347472"/>
          </a:xfrm>
          <a:prstGeom prst="rect">
            <a:avLst/>
          </a:prstGeom>
        </p:spPr>
      </p:pic>
      <p:sp>
        <p:nvSpPr>
          <p:cNvPr id="38" name="Text 30"/>
          <p:cNvSpPr/>
          <p:nvPr/>
        </p:nvSpPr>
        <p:spPr>
          <a:xfrm>
            <a:off x="5596128" y="3721608"/>
            <a:ext cx="3108960" cy="384048"/>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Daily Tasks &amp; Progress</a:t>
            </a:r>
            <a:endParaRPr lang="en-US" sz="1400" dirty="0"/>
          </a:p>
        </p:txBody>
      </p:sp>
      <p:sp>
        <p:nvSpPr>
          <p:cNvPr id="39" name="Text 31"/>
          <p:cNvSpPr/>
          <p:nvPr/>
        </p:nvSpPr>
        <p:spPr>
          <a:xfrm>
            <a:off x="5596128" y="4114800"/>
            <a:ext cx="310896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Daily learning tasks with progress tracking.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C39A"/>
          </a:solidFill>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Database Design</a:t>
            </a:r>
            <a:endParaRPr lang="en-US" sz="2800" dirty="0"/>
          </a:p>
        </p:txBody>
      </p:sp>
      <p:sp>
        <p:nvSpPr>
          <p:cNvPr id="4" name="Shape 2"/>
          <p:cNvSpPr/>
          <p:nvPr/>
        </p:nvSpPr>
        <p:spPr>
          <a:xfrm>
            <a:off x="274320" y="868680"/>
            <a:ext cx="4160520" cy="804672"/>
          </a:xfrm>
          <a:prstGeom prst="rect">
            <a:avLst/>
          </a:prstGeom>
          <a:solidFill>
            <a:srgbClr val="065A82"/>
          </a:solidFill>
          <a:ln/>
          <a:effectLst>
            <a:outerShdw blurRad="101600" dist="38100" dir="8100000" algn="bl" rotWithShape="0">
              <a:srgbClr val="000000">
                <a:alpha val="12000"/>
              </a:srgbClr>
            </a:outerShdw>
          </a:effectLst>
        </p:spPr>
      </p:sp>
      <p:pic>
        <p:nvPicPr>
          <p:cNvPr id="5" name="Image 0" descr="preencoded.png"/>
          <p:cNvPicPr>
            <a:picLocks noChangeAspect="1"/>
          </p:cNvPicPr>
          <p:nvPr/>
        </p:nvPicPr>
        <p:blipFill>
          <a:blip r:embed="rId3"/>
          <a:stretch>
            <a:fillRect/>
          </a:stretch>
        </p:blipFill>
        <p:spPr>
          <a:xfrm>
            <a:off x="384048" y="1033272"/>
            <a:ext cx="411480" cy="411480"/>
          </a:xfrm>
          <a:prstGeom prst="rect">
            <a:avLst/>
          </a:prstGeom>
        </p:spPr>
      </p:pic>
      <p:sp>
        <p:nvSpPr>
          <p:cNvPr id="6" name="Text 3"/>
          <p:cNvSpPr/>
          <p:nvPr/>
        </p:nvSpPr>
        <p:spPr>
          <a:xfrm>
            <a:off x="914400" y="941832"/>
            <a:ext cx="3383280" cy="347472"/>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Users</a:t>
            </a:r>
            <a:endParaRPr lang="en-US" sz="1300" dirty="0"/>
          </a:p>
        </p:txBody>
      </p:sp>
      <p:sp>
        <p:nvSpPr>
          <p:cNvPr id="7" name="Text 4"/>
          <p:cNvSpPr/>
          <p:nvPr/>
        </p:nvSpPr>
        <p:spPr>
          <a:xfrm>
            <a:off x="914400" y="1289304"/>
            <a:ext cx="3383280" cy="310896"/>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id · name · email · password · created_at</a:t>
            </a:r>
            <a:endParaRPr lang="en-US" sz="1000" dirty="0"/>
          </a:p>
        </p:txBody>
      </p:sp>
      <p:sp>
        <p:nvSpPr>
          <p:cNvPr id="8" name="Shape 5"/>
          <p:cNvSpPr/>
          <p:nvPr/>
        </p:nvSpPr>
        <p:spPr>
          <a:xfrm>
            <a:off x="274320" y="1874520"/>
            <a:ext cx="4160520" cy="804672"/>
          </a:xfrm>
          <a:prstGeom prst="rect">
            <a:avLst/>
          </a:prstGeom>
          <a:solidFill>
            <a:srgbClr val="065A82"/>
          </a:solidFill>
          <a:ln/>
          <a:effectLst>
            <a:outerShdw blurRad="101600" dist="38100" dir="8100000" algn="bl" rotWithShape="0">
              <a:srgbClr val="000000">
                <a:alpha val="12000"/>
              </a:srgbClr>
            </a:outerShdw>
          </a:effectLst>
        </p:spPr>
      </p:sp>
      <p:pic>
        <p:nvPicPr>
          <p:cNvPr id="9" name="Image 1" descr="preencoded.png"/>
          <p:cNvPicPr>
            <a:picLocks noChangeAspect="1"/>
          </p:cNvPicPr>
          <p:nvPr/>
        </p:nvPicPr>
        <p:blipFill>
          <a:blip r:embed="rId3"/>
          <a:stretch>
            <a:fillRect/>
          </a:stretch>
        </p:blipFill>
        <p:spPr>
          <a:xfrm>
            <a:off x="384048" y="2039112"/>
            <a:ext cx="411480" cy="411480"/>
          </a:xfrm>
          <a:prstGeom prst="rect">
            <a:avLst/>
          </a:prstGeom>
        </p:spPr>
      </p:pic>
      <p:sp>
        <p:nvSpPr>
          <p:cNvPr id="10" name="Text 6"/>
          <p:cNvSpPr/>
          <p:nvPr/>
        </p:nvSpPr>
        <p:spPr>
          <a:xfrm>
            <a:off x="914400" y="1947672"/>
            <a:ext cx="3383280" cy="347472"/>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Student_Profile</a:t>
            </a:r>
            <a:endParaRPr lang="en-US" sz="1300" dirty="0"/>
          </a:p>
        </p:txBody>
      </p:sp>
      <p:sp>
        <p:nvSpPr>
          <p:cNvPr id="11" name="Text 7"/>
          <p:cNvSpPr/>
          <p:nvPr/>
        </p:nvSpPr>
        <p:spPr>
          <a:xfrm>
            <a:off x="914400" y="2295144"/>
            <a:ext cx="3383280" cy="310896"/>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id · user_id · course · semester</a:t>
            </a:r>
            <a:endParaRPr lang="en-US" sz="1000" dirty="0"/>
          </a:p>
        </p:txBody>
      </p:sp>
      <p:sp>
        <p:nvSpPr>
          <p:cNvPr id="12" name="Shape 8"/>
          <p:cNvSpPr/>
          <p:nvPr/>
        </p:nvSpPr>
        <p:spPr>
          <a:xfrm>
            <a:off x="274320" y="2880360"/>
            <a:ext cx="4160520" cy="804672"/>
          </a:xfrm>
          <a:prstGeom prst="rect">
            <a:avLst/>
          </a:prstGeom>
          <a:solidFill>
            <a:srgbClr val="065A82"/>
          </a:solidFill>
          <a:ln/>
          <a:effectLst>
            <a:outerShdw blurRad="101600" dist="38100" dir="8100000" algn="bl" rotWithShape="0">
              <a:srgbClr val="000000">
                <a:alpha val="12000"/>
              </a:srgbClr>
            </a:outerShdw>
          </a:effectLst>
        </p:spPr>
      </p:sp>
      <p:pic>
        <p:nvPicPr>
          <p:cNvPr id="13" name="Image 2" descr="preencoded.png"/>
          <p:cNvPicPr>
            <a:picLocks noChangeAspect="1"/>
          </p:cNvPicPr>
          <p:nvPr/>
        </p:nvPicPr>
        <p:blipFill>
          <a:blip r:embed="rId3"/>
          <a:stretch>
            <a:fillRect/>
          </a:stretch>
        </p:blipFill>
        <p:spPr>
          <a:xfrm>
            <a:off x="384048" y="3044952"/>
            <a:ext cx="411480" cy="411480"/>
          </a:xfrm>
          <a:prstGeom prst="rect">
            <a:avLst/>
          </a:prstGeom>
        </p:spPr>
      </p:pic>
      <p:sp>
        <p:nvSpPr>
          <p:cNvPr id="14" name="Text 9"/>
          <p:cNvSpPr/>
          <p:nvPr/>
        </p:nvSpPr>
        <p:spPr>
          <a:xfrm>
            <a:off x="914400" y="2953512"/>
            <a:ext cx="3383280" cy="347472"/>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Subjects</a:t>
            </a:r>
            <a:endParaRPr lang="en-US" sz="1300" dirty="0"/>
          </a:p>
        </p:txBody>
      </p:sp>
      <p:sp>
        <p:nvSpPr>
          <p:cNvPr id="15" name="Text 10"/>
          <p:cNvSpPr/>
          <p:nvPr/>
        </p:nvSpPr>
        <p:spPr>
          <a:xfrm>
            <a:off x="914400" y="3300984"/>
            <a:ext cx="3383280" cy="310896"/>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id · user_id · subject_name</a:t>
            </a:r>
            <a:endParaRPr lang="en-US" sz="1000" dirty="0"/>
          </a:p>
        </p:txBody>
      </p:sp>
      <p:sp>
        <p:nvSpPr>
          <p:cNvPr id="16" name="Shape 11"/>
          <p:cNvSpPr/>
          <p:nvPr/>
        </p:nvSpPr>
        <p:spPr>
          <a:xfrm>
            <a:off x="274320" y="3886200"/>
            <a:ext cx="4160520" cy="804672"/>
          </a:xfrm>
          <a:prstGeom prst="rect">
            <a:avLst/>
          </a:prstGeom>
          <a:solidFill>
            <a:srgbClr val="065A82"/>
          </a:solidFill>
          <a:ln/>
          <a:effectLst>
            <a:outerShdw blurRad="101600" dist="38100" dir="8100000" algn="bl" rotWithShape="0">
              <a:srgbClr val="000000">
                <a:alpha val="12000"/>
              </a:srgbClr>
            </a:outerShdw>
          </a:effectLst>
        </p:spPr>
      </p:sp>
      <p:pic>
        <p:nvPicPr>
          <p:cNvPr id="17" name="Image 3" descr="preencoded.png"/>
          <p:cNvPicPr>
            <a:picLocks noChangeAspect="1"/>
          </p:cNvPicPr>
          <p:nvPr/>
        </p:nvPicPr>
        <p:blipFill>
          <a:blip r:embed="rId3"/>
          <a:stretch>
            <a:fillRect/>
          </a:stretch>
        </p:blipFill>
        <p:spPr>
          <a:xfrm>
            <a:off x="384048" y="4050792"/>
            <a:ext cx="411480" cy="411480"/>
          </a:xfrm>
          <a:prstGeom prst="rect">
            <a:avLst/>
          </a:prstGeom>
        </p:spPr>
      </p:pic>
      <p:sp>
        <p:nvSpPr>
          <p:cNvPr id="18" name="Text 12"/>
          <p:cNvSpPr/>
          <p:nvPr/>
        </p:nvSpPr>
        <p:spPr>
          <a:xfrm>
            <a:off x="914400" y="3959352"/>
            <a:ext cx="3383280" cy="347472"/>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Career_Choice</a:t>
            </a:r>
            <a:endParaRPr lang="en-US" sz="1300" dirty="0"/>
          </a:p>
        </p:txBody>
      </p:sp>
      <p:sp>
        <p:nvSpPr>
          <p:cNvPr id="19" name="Text 13"/>
          <p:cNvSpPr/>
          <p:nvPr/>
        </p:nvSpPr>
        <p:spPr>
          <a:xfrm>
            <a:off x="914400" y="4306824"/>
            <a:ext cx="3383280" cy="310896"/>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id · user_id · career_field</a:t>
            </a:r>
            <a:endParaRPr lang="en-US" sz="1000" dirty="0"/>
          </a:p>
        </p:txBody>
      </p:sp>
      <p:sp>
        <p:nvSpPr>
          <p:cNvPr id="20" name="Shape 14"/>
          <p:cNvSpPr/>
          <p:nvPr/>
        </p:nvSpPr>
        <p:spPr>
          <a:xfrm>
            <a:off x="4754880" y="868680"/>
            <a:ext cx="4160520" cy="804672"/>
          </a:xfrm>
          <a:prstGeom prst="rect">
            <a:avLst/>
          </a:prstGeom>
          <a:solidFill>
            <a:srgbClr val="065A82"/>
          </a:solidFill>
          <a:ln/>
          <a:effectLst>
            <a:outerShdw blurRad="101600" dist="38100" dir="8100000" algn="bl" rotWithShape="0">
              <a:srgbClr val="000000">
                <a:alpha val="12000"/>
              </a:srgbClr>
            </a:outerShdw>
          </a:effectLst>
        </p:spPr>
      </p:sp>
      <p:pic>
        <p:nvPicPr>
          <p:cNvPr id="21" name="Image 4" descr="preencoded.png"/>
          <p:cNvPicPr>
            <a:picLocks noChangeAspect="1"/>
          </p:cNvPicPr>
          <p:nvPr/>
        </p:nvPicPr>
        <p:blipFill>
          <a:blip r:embed="rId3"/>
          <a:stretch>
            <a:fillRect/>
          </a:stretch>
        </p:blipFill>
        <p:spPr>
          <a:xfrm>
            <a:off x="4864608" y="1033272"/>
            <a:ext cx="411480" cy="411480"/>
          </a:xfrm>
          <a:prstGeom prst="rect">
            <a:avLst/>
          </a:prstGeom>
        </p:spPr>
      </p:pic>
      <p:sp>
        <p:nvSpPr>
          <p:cNvPr id="22" name="Text 15"/>
          <p:cNvSpPr/>
          <p:nvPr/>
        </p:nvSpPr>
        <p:spPr>
          <a:xfrm>
            <a:off x="5394960" y="941832"/>
            <a:ext cx="3383280" cy="347472"/>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Roadmaps</a:t>
            </a:r>
            <a:endParaRPr lang="en-US" sz="1300" dirty="0"/>
          </a:p>
        </p:txBody>
      </p:sp>
      <p:sp>
        <p:nvSpPr>
          <p:cNvPr id="23" name="Text 16"/>
          <p:cNvSpPr/>
          <p:nvPr/>
        </p:nvSpPr>
        <p:spPr>
          <a:xfrm>
            <a:off x="5394960" y="1289304"/>
            <a:ext cx="3383280" cy="310896"/>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id · career_field · step_number · step_description</a:t>
            </a:r>
            <a:endParaRPr lang="en-US" sz="1000" dirty="0"/>
          </a:p>
        </p:txBody>
      </p:sp>
      <p:sp>
        <p:nvSpPr>
          <p:cNvPr id="24" name="Shape 17"/>
          <p:cNvSpPr/>
          <p:nvPr/>
        </p:nvSpPr>
        <p:spPr>
          <a:xfrm>
            <a:off x="4754880" y="1874520"/>
            <a:ext cx="4160520" cy="804672"/>
          </a:xfrm>
          <a:prstGeom prst="rect">
            <a:avLst/>
          </a:prstGeom>
          <a:solidFill>
            <a:srgbClr val="065A82"/>
          </a:solidFill>
          <a:ln/>
          <a:effectLst>
            <a:outerShdw blurRad="101600" dist="38100" dir="8100000" algn="bl" rotWithShape="0">
              <a:srgbClr val="000000">
                <a:alpha val="12000"/>
              </a:srgbClr>
            </a:outerShdw>
          </a:effectLst>
        </p:spPr>
      </p:sp>
      <p:pic>
        <p:nvPicPr>
          <p:cNvPr id="25" name="Image 5" descr="preencoded.png"/>
          <p:cNvPicPr>
            <a:picLocks noChangeAspect="1"/>
          </p:cNvPicPr>
          <p:nvPr/>
        </p:nvPicPr>
        <p:blipFill>
          <a:blip r:embed="rId3"/>
          <a:stretch>
            <a:fillRect/>
          </a:stretch>
        </p:blipFill>
        <p:spPr>
          <a:xfrm>
            <a:off x="4864608" y="2039112"/>
            <a:ext cx="411480" cy="411480"/>
          </a:xfrm>
          <a:prstGeom prst="rect">
            <a:avLst/>
          </a:prstGeom>
        </p:spPr>
      </p:pic>
      <p:sp>
        <p:nvSpPr>
          <p:cNvPr id="26" name="Text 18"/>
          <p:cNvSpPr/>
          <p:nvPr/>
        </p:nvSpPr>
        <p:spPr>
          <a:xfrm>
            <a:off x="5394960" y="1947672"/>
            <a:ext cx="3383280" cy="347472"/>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Daily_Tasks</a:t>
            </a:r>
            <a:endParaRPr lang="en-US" sz="1300" dirty="0"/>
          </a:p>
        </p:txBody>
      </p:sp>
      <p:sp>
        <p:nvSpPr>
          <p:cNvPr id="27" name="Text 19"/>
          <p:cNvSpPr/>
          <p:nvPr/>
        </p:nvSpPr>
        <p:spPr>
          <a:xfrm>
            <a:off x="5394960" y="2295144"/>
            <a:ext cx="3383280" cy="310896"/>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id · user_id · task_description · status</a:t>
            </a:r>
            <a:endParaRPr lang="en-US" sz="1000" dirty="0"/>
          </a:p>
        </p:txBody>
      </p:sp>
      <p:sp>
        <p:nvSpPr>
          <p:cNvPr id="28" name="Shape 20"/>
          <p:cNvSpPr/>
          <p:nvPr/>
        </p:nvSpPr>
        <p:spPr>
          <a:xfrm>
            <a:off x="4754880" y="2880360"/>
            <a:ext cx="4160520" cy="804672"/>
          </a:xfrm>
          <a:prstGeom prst="rect">
            <a:avLst/>
          </a:prstGeom>
          <a:solidFill>
            <a:srgbClr val="065A82"/>
          </a:solidFill>
          <a:ln/>
          <a:effectLst>
            <a:outerShdw blurRad="101600" dist="38100" dir="8100000" algn="bl" rotWithShape="0">
              <a:srgbClr val="000000">
                <a:alpha val="12000"/>
              </a:srgbClr>
            </a:outerShdw>
          </a:effectLst>
        </p:spPr>
      </p:sp>
      <p:pic>
        <p:nvPicPr>
          <p:cNvPr id="29" name="Image 6" descr="preencoded.png"/>
          <p:cNvPicPr>
            <a:picLocks noChangeAspect="1"/>
          </p:cNvPicPr>
          <p:nvPr/>
        </p:nvPicPr>
        <p:blipFill>
          <a:blip r:embed="rId3"/>
          <a:stretch>
            <a:fillRect/>
          </a:stretch>
        </p:blipFill>
        <p:spPr>
          <a:xfrm>
            <a:off x="4864608" y="3044952"/>
            <a:ext cx="411480" cy="411480"/>
          </a:xfrm>
          <a:prstGeom prst="rect">
            <a:avLst/>
          </a:prstGeom>
        </p:spPr>
      </p:pic>
      <p:sp>
        <p:nvSpPr>
          <p:cNvPr id="30" name="Text 21"/>
          <p:cNvSpPr/>
          <p:nvPr/>
        </p:nvSpPr>
        <p:spPr>
          <a:xfrm>
            <a:off x="5394960" y="2953512"/>
            <a:ext cx="3383280" cy="347472"/>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Progress</a:t>
            </a:r>
            <a:endParaRPr lang="en-US" sz="1300" dirty="0"/>
          </a:p>
        </p:txBody>
      </p:sp>
      <p:sp>
        <p:nvSpPr>
          <p:cNvPr id="31" name="Text 22"/>
          <p:cNvSpPr/>
          <p:nvPr/>
        </p:nvSpPr>
        <p:spPr>
          <a:xfrm>
            <a:off x="5394960" y="3300984"/>
            <a:ext cx="3383280" cy="310896"/>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id · user_id · completed_tasks · total_tasks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C7293"/>
          </a:solidFill>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API Endpoints</a:t>
            </a:r>
            <a:endParaRPr lang="en-US" sz="2800" dirty="0"/>
          </a:p>
        </p:txBody>
      </p:sp>
      <p:sp>
        <p:nvSpPr>
          <p:cNvPr id="4" name="Shape 2"/>
          <p:cNvSpPr/>
          <p:nvPr/>
        </p:nvSpPr>
        <p:spPr>
          <a:xfrm>
            <a:off x="274320" y="914400"/>
            <a:ext cx="4206240" cy="1261872"/>
          </a:xfrm>
          <a:prstGeom prst="rect">
            <a:avLst/>
          </a:prstGeom>
          <a:solidFill>
            <a:srgbClr val="FFFFFF"/>
          </a:solidFill>
          <a:ln/>
          <a:effectLst>
            <a:outerShdw blurRad="101600" dist="38100" dir="8100000" algn="bl" rotWithShape="0">
              <a:srgbClr val="000000">
                <a:alpha val="12000"/>
              </a:srgbClr>
            </a:outerShdw>
          </a:effectLst>
        </p:spPr>
      </p:sp>
      <p:sp>
        <p:nvSpPr>
          <p:cNvPr id="5" name="Shape 3"/>
          <p:cNvSpPr/>
          <p:nvPr/>
        </p:nvSpPr>
        <p:spPr>
          <a:xfrm>
            <a:off x="274320" y="914400"/>
            <a:ext cx="4206240" cy="384048"/>
          </a:xfrm>
          <a:prstGeom prst="rect">
            <a:avLst/>
          </a:prstGeom>
          <a:solidFill>
            <a:srgbClr val="065A82"/>
          </a:solidFill>
          <a:ln/>
        </p:spPr>
      </p:sp>
      <p:pic>
        <p:nvPicPr>
          <p:cNvPr id="6" name="Image 0" descr="preencoded.png"/>
          <p:cNvPicPr>
            <a:picLocks noChangeAspect="1"/>
          </p:cNvPicPr>
          <p:nvPr/>
        </p:nvPicPr>
        <p:blipFill>
          <a:blip r:embed="rId3"/>
          <a:stretch>
            <a:fillRect/>
          </a:stretch>
        </p:blipFill>
        <p:spPr>
          <a:xfrm>
            <a:off x="365760" y="960120"/>
            <a:ext cx="292608" cy="292608"/>
          </a:xfrm>
          <a:prstGeom prst="rect">
            <a:avLst/>
          </a:prstGeom>
        </p:spPr>
      </p:pic>
      <p:sp>
        <p:nvSpPr>
          <p:cNvPr id="7" name="Text 4"/>
          <p:cNvSpPr/>
          <p:nvPr/>
        </p:nvSpPr>
        <p:spPr>
          <a:xfrm>
            <a:off x="731520" y="960120"/>
            <a:ext cx="356616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Authentication</a:t>
            </a:r>
            <a:endParaRPr lang="en-US" sz="1300" dirty="0"/>
          </a:p>
        </p:txBody>
      </p:sp>
      <p:sp>
        <p:nvSpPr>
          <p:cNvPr id="8" name="Shape 5"/>
          <p:cNvSpPr/>
          <p:nvPr/>
        </p:nvSpPr>
        <p:spPr>
          <a:xfrm>
            <a:off x="384048" y="1371600"/>
            <a:ext cx="658368" cy="274320"/>
          </a:xfrm>
          <a:prstGeom prst="rect">
            <a:avLst/>
          </a:prstGeom>
          <a:solidFill>
            <a:srgbClr val="065A82"/>
          </a:solidFill>
          <a:ln/>
        </p:spPr>
      </p:sp>
      <p:sp>
        <p:nvSpPr>
          <p:cNvPr id="9" name="Text 6"/>
          <p:cNvSpPr/>
          <p:nvPr/>
        </p:nvSpPr>
        <p:spPr>
          <a:xfrm>
            <a:off x="384048" y="1371600"/>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10" name="Text 7"/>
          <p:cNvSpPr/>
          <p:nvPr/>
        </p:nvSpPr>
        <p:spPr>
          <a:xfrm>
            <a:off x="1097280" y="1371600"/>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/api/register</a:t>
            </a:r>
            <a:endParaRPr lang="en-US" sz="1100" dirty="0"/>
          </a:p>
        </p:txBody>
      </p:sp>
      <p:sp>
        <p:nvSpPr>
          <p:cNvPr id="11" name="Shape 8"/>
          <p:cNvSpPr/>
          <p:nvPr/>
        </p:nvSpPr>
        <p:spPr>
          <a:xfrm>
            <a:off x="384048" y="1810512"/>
            <a:ext cx="658368" cy="274320"/>
          </a:xfrm>
          <a:prstGeom prst="rect">
            <a:avLst/>
          </a:prstGeom>
          <a:solidFill>
            <a:srgbClr val="065A82"/>
          </a:solidFill>
          <a:ln/>
        </p:spPr>
      </p:sp>
      <p:sp>
        <p:nvSpPr>
          <p:cNvPr id="12" name="Text 9"/>
          <p:cNvSpPr/>
          <p:nvPr/>
        </p:nvSpPr>
        <p:spPr>
          <a:xfrm>
            <a:off x="384048" y="1810512"/>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13" name="Text 10"/>
          <p:cNvSpPr/>
          <p:nvPr/>
        </p:nvSpPr>
        <p:spPr>
          <a:xfrm>
            <a:off x="1097280" y="1810512"/>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/api/login</a:t>
            </a:r>
            <a:endParaRPr lang="en-US" sz="1100" dirty="0"/>
          </a:p>
        </p:txBody>
      </p:sp>
      <p:sp>
        <p:nvSpPr>
          <p:cNvPr id="14" name="Shape 11"/>
          <p:cNvSpPr/>
          <p:nvPr/>
        </p:nvSpPr>
        <p:spPr>
          <a:xfrm>
            <a:off x="274320" y="2331720"/>
            <a:ext cx="4206240" cy="1261872"/>
          </a:xfrm>
          <a:prstGeom prst="rect">
            <a:avLst/>
          </a:prstGeom>
          <a:solidFill>
            <a:srgbClr val="FFFFFF"/>
          </a:solidFill>
          <a:ln/>
          <a:effectLst>
            <a:outerShdw blurRad="101600" dist="38100" dir="8100000" algn="bl" rotWithShape="0">
              <a:srgbClr val="000000">
                <a:alpha val="12000"/>
              </a:srgbClr>
            </a:outerShdw>
          </a:effectLst>
        </p:spPr>
      </p:sp>
      <p:sp>
        <p:nvSpPr>
          <p:cNvPr id="15" name="Shape 12"/>
          <p:cNvSpPr/>
          <p:nvPr/>
        </p:nvSpPr>
        <p:spPr>
          <a:xfrm>
            <a:off x="274320" y="2331720"/>
            <a:ext cx="4206240" cy="384048"/>
          </a:xfrm>
          <a:prstGeom prst="rect">
            <a:avLst/>
          </a:prstGeom>
          <a:solidFill>
            <a:srgbClr val="065A82"/>
          </a:solidFill>
          <a:ln/>
        </p:spPr>
      </p:sp>
      <p:pic>
        <p:nvPicPr>
          <p:cNvPr id="16" name="Image 1" descr="preencoded.png"/>
          <p:cNvPicPr>
            <a:picLocks noChangeAspect="1"/>
          </p:cNvPicPr>
          <p:nvPr/>
        </p:nvPicPr>
        <p:blipFill>
          <a:blip r:embed="rId3"/>
          <a:stretch>
            <a:fillRect/>
          </a:stretch>
        </p:blipFill>
        <p:spPr>
          <a:xfrm>
            <a:off x="365760" y="2377440"/>
            <a:ext cx="292608" cy="292608"/>
          </a:xfrm>
          <a:prstGeom prst="rect">
            <a:avLst/>
          </a:prstGeom>
        </p:spPr>
      </p:pic>
      <p:sp>
        <p:nvSpPr>
          <p:cNvPr id="17" name="Text 13"/>
          <p:cNvSpPr/>
          <p:nvPr/>
        </p:nvSpPr>
        <p:spPr>
          <a:xfrm>
            <a:off x="731520" y="2377440"/>
            <a:ext cx="356616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Student Profile</a:t>
            </a:r>
            <a:endParaRPr lang="en-US" sz="1300" dirty="0"/>
          </a:p>
        </p:txBody>
      </p:sp>
      <p:sp>
        <p:nvSpPr>
          <p:cNvPr id="18" name="Shape 14"/>
          <p:cNvSpPr/>
          <p:nvPr/>
        </p:nvSpPr>
        <p:spPr>
          <a:xfrm>
            <a:off x="384048" y="2788920"/>
            <a:ext cx="658368" cy="274320"/>
          </a:xfrm>
          <a:prstGeom prst="rect">
            <a:avLst/>
          </a:prstGeom>
          <a:solidFill>
            <a:srgbClr val="065A82"/>
          </a:solidFill>
          <a:ln/>
        </p:spPr>
      </p:sp>
      <p:sp>
        <p:nvSpPr>
          <p:cNvPr id="19" name="Text 15"/>
          <p:cNvSpPr/>
          <p:nvPr/>
        </p:nvSpPr>
        <p:spPr>
          <a:xfrm>
            <a:off x="384048" y="2788920"/>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20" name="Text 16"/>
          <p:cNvSpPr/>
          <p:nvPr/>
        </p:nvSpPr>
        <p:spPr>
          <a:xfrm>
            <a:off x="1097280" y="2788920"/>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/api/profile</a:t>
            </a:r>
            <a:endParaRPr lang="en-US" sz="1100" dirty="0"/>
          </a:p>
        </p:txBody>
      </p:sp>
      <p:sp>
        <p:nvSpPr>
          <p:cNvPr id="21" name="Shape 17"/>
          <p:cNvSpPr/>
          <p:nvPr/>
        </p:nvSpPr>
        <p:spPr>
          <a:xfrm>
            <a:off x="384048" y="3227832"/>
            <a:ext cx="658368" cy="274320"/>
          </a:xfrm>
          <a:prstGeom prst="rect">
            <a:avLst/>
          </a:prstGeom>
          <a:solidFill>
            <a:srgbClr val="02C39A"/>
          </a:solidFill>
          <a:ln/>
        </p:spPr>
      </p:sp>
      <p:sp>
        <p:nvSpPr>
          <p:cNvPr id="22" name="Text 18"/>
          <p:cNvSpPr/>
          <p:nvPr/>
        </p:nvSpPr>
        <p:spPr>
          <a:xfrm>
            <a:off x="384048" y="3227832"/>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23" name="Text 19"/>
          <p:cNvSpPr/>
          <p:nvPr/>
        </p:nvSpPr>
        <p:spPr>
          <a:xfrm>
            <a:off x="1097280" y="3227832"/>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/api/profile</a:t>
            </a:r>
            <a:endParaRPr lang="en-US" sz="1100" dirty="0"/>
          </a:p>
        </p:txBody>
      </p:sp>
      <p:sp>
        <p:nvSpPr>
          <p:cNvPr id="24" name="Shape 20"/>
          <p:cNvSpPr/>
          <p:nvPr/>
        </p:nvSpPr>
        <p:spPr>
          <a:xfrm>
            <a:off x="274320" y="3749040"/>
            <a:ext cx="4206240" cy="1261872"/>
          </a:xfrm>
          <a:prstGeom prst="rect">
            <a:avLst/>
          </a:prstGeom>
          <a:solidFill>
            <a:srgbClr val="FFFFFF"/>
          </a:solidFill>
          <a:ln/>
          <a:effectLst>
            <a:outerShdw blurRad="101600" dist="38100" dir="8100000" algn="bl" rotWithShape="0">
              <a:srgbClr val="000000">
                <a:alpha val="12000"/>
              </a:srgbClr>
            </a:outerShdw>
          </a:effectLst>
        </p:spPr>
      </p:sp>
      <p:sp>
        <p:nvSpPr>
          <p:cNvPr id="25" name="Shape 21"/>
          <p:cNvSpPr/>
          <p:nvPr/>
        </p:nvSpPr>
        <p:spPr>
          <a:xfrm>
            <a:off x="274320" y="3749040"/>
            <a:ext cx="4206240" cy="384048"/>
          </a:xfrm>
          <a:prstGeom prst="rect">
            <a:avLst/>
          </a:prstGeom>
          <a:solidFill>
            <a:srgbClr val="065A82"/>
          </a:solidFill>
          <a:ln/>
        </p:spPr>
      </p:sp>
      <p:pic>
        <p:nvPicPr>
          <p:cNvPr id="26" name="Image 2" descr="preencoded.png"/>
          <p:cNvPicPr>
            <a:picLocks noChangeAspect="1"/>
          </p:cNvPicPr>
          <p:nvPr/>
        </p:nvPicPr>
        <p:blipFill>
          <a:blip r:embed="rId3"/>
          <a:stretch>
            <a:fillRect/>
          </a:stretch>
        </p:blipFill>
        <p:spPr>
          <a:xfrm>
            <a:off x="365760" y="3794760"/>
            <a:ext cx="292608" cy="292608"/>
          </a:xfrm>
          <a:prstGeom prst="rect">
            <a:avLst/>
          </a:prstGeom>
        </p:spPr>
      </p:pic>
      <p:sp>
        <p:nvSpPr>
          <p:cNvPr id="27" name="Text 22"/>
          <p:cNvSpPr/>
          <p:nvPr/>
        </p:nvSpPr>
        <p:spPr>
          <a:xfrm>
            <a:off x="731520" y="3794760"/>
            <a:ext cx="356616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Subjects</a:t>
            </a:r>
            <a:endParaRPr lang="en-US" sz="1300" dirty="0"/>
          </a:p>
        </p:txBody>
      </p:sp>
      <p:sp>
        <p:nvSpPr>
          <p:cNvPr id="28" name="Shape 23"/>
          <p:cNvSpPr/>
          <p:nvPr/>
        </p:nvSpPr>
        <p:spPr>
          <a:xfrm>
            <a:off x="384048" y="4206240"/>
            <a:ext cx="658368" cy="274320"/>
          </a:xfrm>
          <a:prstGeom prst="rect">
            <a:avLst/>
          </a:prstGeom>
          <a:solidFill>
            <a:srgbClr val="065A82"/>
          </a:solidFill>
          <a:ln/>
        </p:spPr>
      </p:sp>
      <p:sp>
        <p:nvSpPr>
          <p:cNvPr id="29" name="Text 24"/>
          <p:cNvSpPr/>
          <p:nvPr/>
        </p:nvSpPr>
        <p:spPr>
          <a:xfrm>
            <a:off x="384048" y="4206240"/>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30" name="Text 25"/>
          <p:cNvSpPr/>
          <p:nvPr/>
        </p:nvSpPr>
        <p:spPr>
          <a:xfrm>
            <a:off x="1097280" y="4206240"/>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/api/subjects</a:t>
            </a:r>
            <a:endParaRPr lang="en-US" sz="1100" dirty="0"/>
          </a:p>
        </p:txBody>
      </p:sp>
      <p:sp>
        <p:nvSpPr>
          <p:cNvPr id="31" name="Shape 26"/>
          <p:cNvSpPr/>
          <p:nvPr/>
        </p:nvSpPr>
        <p:spPr>
          <a:xfrm>
            <a:off x="384048" y="4645152"/>
            <a:ext cx="658368" cy="274320"/>
          </a:xfrm>
          <a:prstGeom prst="rect">
            <a:avLst/>
          </a:prstGeom>
          <a:solidFill>
            <a:srgbClr val="02C39A"/>
          </a:solidFill>
          <a:ln/>
        </p:spPr>
      </p:sp>
      <p:sp>
        <p:nvSpPr>
          <p:cNvPr id="32" name="Text 27"/>
          <p:cNvSpPr/>
          <p:nvPr/>
        </p:nvSpPr>
        <p:spPr>
          <a:xfrm>
            <a:off x="384048" y="4645152"/>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33" name="Text 28"/>
          <p:cNvSpPr/>
          <p:nvPr/>
        </p:nvSpPr>
        <p:spPr>
          <a:xfrm>
            <a:off x="1097280" y="4645152"/>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/api/subjects</a:t>
            </a:r>
            <a:endParaRPr lang="en-US" sz="1100" dirty="0"/>
          </a:p>
        </p:txBody>
      </p:sp>
      <p:sp>
        <p:nvSpPr>
          <p:cNvPr id="34" name="Shape 29"/>
          <p:cNvSpPr/>
          <p:nvPr/>
        </p:nvSpPr>
        <p:spPr>
          <a:xfrm>
            <a:off x="4846320" y="914400"/>
            <a:ext cx="4206240" cy="1700784"/>
          </a:xfrm>
          <a:prstGeom prst="rect">
            <a:avLst/>
          </a:prstGeom>
          <a:solidFill>
            <a:srgbClr val="FFFFFF"/>
          </a:solidFill>
          <a:ln/>
          <a:effectLst>
            <a:outerShdw blurRad="101600" dist="38100" dir="8100000" algn="bl" rotWithShape="0">
              <a:srgbClr val="000000">
                <a:alpha val="12000"/>
              </a:srgbClr>
            </a:outerShdw>
          </a:effectLst>
        </p:spPr>
      </p:sp>
      <p:sp>
        <p:nvSpPr>
          <p:cNvPr id="35" name="Shape 30"/>
          <p:cNvSpPr/>
          <p:nvPr/>
        </p:nvSpPr>
        <p:spPr>
          <a:xfrm>
            <a:off x="4846320" y="914400"/>
            <a:ext cx="4206240" cy="384048"/>
          </a:xfrm>
          <a:prstGeom prst="rect">
            <a:avLst/>
          </a:prstGeom>
          <a:solidFill>
            <a:srgbClr val="065A82"/>
          </a:solidFill>
          <a:ln/>
        </p:spPr>
      </p:sp>
      <p:pic>
        <p:nvPicPr>
          <p:cNvPr id="36" name="Image 3" descr="preencoded.png"/>
          <p:cNvPicPr>
            <a:picLocks noChangeAspect="1"/>
          </p:cNvPicPr>
          <p:nvPr/>
        </p:nvPicPr>
        <p:blipFill>
          <a:blip r:embed="rId3"/>
          <a:stretch>
            <a:fillRect/>
          </a:stretch>
        </p:blipFill>
        <p:spPr>
          <a:xfrm>
            <a:off x="4937760" y="960120"/>
            <a:ext cx="292608" cy="292608"/>
          </a:xfrm>
          <a:prstGeom prst="rect">
            <a:avLst/>
          </a:prstGeom>
        </p:spPr>
      </p:pic>
      <p:sp>
        <p:nvSpPr>
          <p:cNvPr id="37" name="Text 31"/>
          <p:cNvSpPr/>
          <p:nvPr/>
        </p:nvSpPr>
        <p:spPr>
          <a:xfrm>
            <a:off x="5303520" y="960120"/>
            <a:ext cx="356616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Career &amp; Roadmap</a:t>
            </a:r>
            <a:endParaRPr lang="en-US" sz="1300" dirty="0"/>
          </a:p>
        </p:txBody>
      </p:sp>
      <p:sp>
        <p:nvSpPr>
          <p:cNvPr id="38" name="Shape 32"/>
          <p:cNvSpPr/>
          <p:nvPr/>
        </p:nvSpPr>
        <p:spPr>
          <a:xfrm>
            <a:off x="4956048" y="1371600"/>
            <a:ext cx="658368" cy="274320"/>
          </a:xfrm>
          <a:prstGeom prst="rect">
            <a:avLst/>
          </a:prstGeom>
          <a:solidFill>
            <a:srgbClr val="065A82"/>
          </a:solidFill>
          <a:ln/>
        </p:spPr>
      </p:sp>
      <p:sp>
        <p:nvSpPr>
          <p:cNvPr id="39" name="Text 33"/>
          <p:cNvSpPr/>
          <p:nvPr/>
        </p:nvSpPr>
        <p:spPr>
          <a:xfrm>
            <a:off x="4956048" y="1371600"/>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40" name="Text 34"/>
          <p:cNvSpPr/>
          <p:nvPr/>
        </p:nvSpPr>
        <p:spPr>
          <a:xfrm>
            <a:off x="5669280" y="1371600"/>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/api/analyze-subjects</a:t>
            </a:r>
            <a:endParaRPr lang="en-US" sz="1100" dirty="0"/>
          </a:p>
        </p:txBody>
      </p:sp>
      <p:sp>
        <p:nvSpPr>
          <p:cNvPr id="41" name="Shape 35"/>
          <p:cNvSpPr/>
          <p:nvPr/>
        </p:nvSpPr>
        <p:spPr>
          <a:xfrm>
            <a:off x="4956048" y="1810512"/>
            <a:ext cx="658368" cy="274320"/>
          </a:xfrm>
          <a:prstGeom prst="rect">
            <a:avLst/>
          </a:prstGeom>
          <a:solidFill>
            <a:srgbClr val="065A82"/>
          </a:solidFill>
          <a:ln/>
        </p:spPr>
      </p:sp>
      <p:sp>
        <p:nvSpPr>
          <p:cNvPr id="42" name="Text 36"/>
          <p:cNvSpPr/>
          <p:nvPr/>
        </p:nvSpPr>
        <p:spPr>
          <a:xfrm>
            <a:off x="4956048" y="1810512"/>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43" name="Text 37"/>
          <p:cNvSpPr/>
          <p:nvPr/>
        </p:nvSpPr>
        <p:spPr>
          <a:xfrm>
            <a:off x="5669280" y="1810512"/>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/api/career</a:t>
            </a:r>
            <a:endParaRPr lang="en-US" sz="1100" dirty="0"/>
          </a:p>
        </p:txBody>
      </p:sp>
      <p:sp>
        <p:nvSpPr>
          <p:cNvPr id="44" name="Shape 38"/>
          <p:cNvSpPr/>
          <p:nvPr/>
        </p:nvSpPr>
        <p:spPr>
          <a:xfrm>
            <a:off x="4956048" y="2249424"/>
            <a:ext cx="658368" cy="274320"/>
          </a:xfrm>
          <a:prstGeom prst="rect">
            <a:avLst/>
          </a:prstGeom>
          <a:solidFill>
            <a:srgbClr val="02C39A"/>
          </a:solidFill>
          <a:ln/>
        </p:spPr>
      </p:sp>
      <p:sp>
        <p:nvSpPr>
          <p:cNvPr id="45" name="Text 39"/>
          <p:cNvSpPr/>
          <p:nvPr/>
        </p:nvSpPr>
        <p:spPr>
          <a:xfrm>
            <a:off x="4956048" y="2249424"/>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46" name="Text 40"/>
          <p:cNvSpPr/>
          <p:nvPr/>
        </p:nvSpPr>
        <p:spPr>
          <a:xfrm>
            <a:off x="5669280" y="2249424"/>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/api/roadmap</a:t>
            </a:r>
            <a:endParaRPr lang="en-US" sz="1100" dirty="0"/>
          </a:p>
        </p:txBody>
      </p:sp>
      <p:sp>
        <p:nvSpPr>
          <p:cNvPr id="57" name="Shape 41"/>
          <p:cNvSpPr/>
          <p:nvPr/>
        </p:nvSpPr>
        <p:spPr>
          <a:xfrm>
            <a:off x="4846320" y="3134324"/>
            <a:ext cx="4206240" cy="1088136"/>
          </a:xfrm>
          <a:prstGeom prst="rect">
            <a:avLst/>
          </a:prstGeom>
          <a:solidFill>
            <a:srgbClr val="FFFFFF"/>
          </a:solidFill>
          <a:ln/>
          <a:effectLst>
            <a:outerShdw blurRad="101600" dist="38100" dir="8100000" algn="bl" rotWithShape="0">
              <a:srgbClr val="000000">
                <a:alpha val="12000"/>
              </a:srgbClr>
            </a:outerShdw>
          </a:effectLst>
        </p:spPr>
      </p:sp>
      <p:sp>
        <p:nvSpPr>
          <p:cNvPr id="58" name="Shape 42"/>
          <p:cNvSpPr/>
          <p:nvPr/>
        </p:nvSpPr>
        <p:spPr>
          <a:xfrm>
            <a:off x="4846320" y="2759420"/>
            <a:ext cx="4206240" cy="384048"/>
          </a:xfrm>
          <a:prstGeom prst="rect">
            <a:avLst/>
          </a:prstGeom>
          <a:solidFill>
            <a:srgbClr val="065A82"/>
          </a:solidFill>
          <a:ln/>
        </p:spPr>
      </p:sp>
      <p:pic>
        <p:nvPicPr>
          <p:cNvPr id="59" name="Image 4" descr="preencoded.png"/>
          <p:cNvPicPr>
            <a:picLocks noChangeAspect="1"/>
          </p:cNvPicPr>
          <p:nvPr/>
        </p:nvPicPr>
        <p:blipFill>
          <a:blip r:embed="rId3"/>
          <a:stretch>
            <a:fillRect/>
          </a:stretch>
        </p:blipFill>
        <p:spPr>
          <a:xfrm>
            <a:off x="4937760" y="2805140"/>
            <a:ext cx="292608" cy="292608"/>
          </a:xfrm>
          <a:prstGeom prst="rect">
            <a:avLst/>
          </a:prstGeom>
        </p:spPr>
      </p:pic>
      <p:sp>
        <p:nvSpPr>
          <p:cNvPr id="60" name="Text 43"/>
          <p:cNvSpPr/>
          <p:nvPr/>
        </p:nvSpPr>
        <p:spPr>
          <a:xfrm>
            <a:off x="5303520" y="2805140"/>
            <a:ext cx="356616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Tasks &amp; Progress</a:t>
            </a:r>
            <a:endParaRPr lang="en-US" sz="1300" dirty="0"/>
          </a:p>
        </p:txBody>
      </p:sp>
      <p:sp>
        <p:nvSpPr>
          <p:cNvPr id="61" name="Shape 44"/>
          <p:cNvSpPr/>
          <p:nvPr/>
        </p:nvSpPr>
        <p:spPr>
          <a:xfrm>
            <a:off x="4956048" y="3201872"/>
            <a:ext cx="658368" cy="274320"/>
          </a:xfrm>
          <a:prstGeom prst="rect">
            <a:avLst/>
          </a:prstGeom>
          <a:solidFill>
            <a:srgbClr val="02C39A"/>
          </a:solidFill>
          <a:ln/>
        </p:spPr>
      </p:sp>
      <p:sp>
        <p:nvSpPr>
          <p:cNvPr id="62" name="Text 45"/>
          <p:cNvSpPr/>
          <p:nvPr/>
        </p:nvSpPr>
        <p:spPr>
          <a:xfrm>
            <a:off x="4956048" y="3216620"/>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63" name="Text 46"/>
          <p:cNvSpPr/>
          <p:nvPr/>
        </p:nvSpPr>
        <p:spPr>
          <a:xfrm>
            <a:off x="5669280" y="3216620"/>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/api/tasks</a:t>
            </a:r>
            <a:endParaRPr lang="en-US" sz="1100" dirty="0"/>
          </a:p>
        </p:txBody>
      </p:sp>
      <p:sp>
        <p:nvSpPr>
          <p:cNvPr id="64" name="Shape 47"/>
          <p:cNvSpPr/>
          <p:nvPr/>
        </p:nvSpPr>
        <p:spPr>
          <a:xfrm>
            <a:off x="4956048" y="3633410"/>
            <a:ext cx="658368" cy="274320"/>
          </a:xfrm>
          <a:prstGeom prst="rect">
            <a:avLst/>
          </a:prstGeom>
          <a:solidFill>
            <a:srgbClr val="065A82"/>
          </a:solidFill>
          <a:ln/>
        </p:spPr>
      </p:sp>
      <p:sp>
        <p:nvSpPr>
          <p:cNvPr id="65" name="Text 48"/>
          <p:cNvSpPr/>
          <p:nvPr/>
        </p:nvSpPr>
        <p:spPr>
          <a:xfrm>
            <a:off x="4956048" y="3655532"/>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66" name="Text 49"/>
          <p:cNvSpPr/>
          <p:nvPr/>
        </p:nvSpPr>
        <p:spPr>
          <a:xfrm>
            <a:off x="5669280" y="3655532"/>
            <a:ext cx="329184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/api/tasks/complete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Advantages &amp; Future Enhancements</a:t>
            </a:r>
            <a:endParaRPr lang="en-US" sz="2600" dirty="0"/>
          </a:p>
        </p:txBody>
      </p:sp>
      <p:sp>
        <p:nvSpPr>
          <p:cNvPr id="4" name="Shape 2"/>
          <p:cNvSpPr/>
          <p:nvPr/>
        </p:nvSpPr>
        <p:spPr>
          <a:xfrm>
            <a:off x="274320" y="914400"/>
            <a:ext cx="3977640" cy="3840480"/>
          </a:xfrm>
          <a:prstGeom prst="rect">
            <a:avLst/>
          </a:prstGeom>
          <a:solidFill>
            <a:srgbClr val="065A82"/>
          </a:solidFill>
          <a:ln/>
          <a:effectLst>
            <a:outerShdw blurRad="101600" dist="38100" dir="8100000" algn="bl" rotWithShape="0">
              <a:srgbClr val="000000">
                <a:alpha val="12000"/>
              </a:srgbClr>
            </a:outerShdw>
          </a:effectLst>
        </p:spPr>
      </p:sp>
      <p:sp>
        <p:nvSpPr>
          <p:cNvPr id="5" name="Shape 3"/>
          <p:cNvSpPr/>
          <p:nvPr/>
        </p:nvSpPr>
        <p:spPr>
          <a:xfrm>
            <a:off x="274320" y="914400"/>
            <a:ext cx="3977640" cy="457200"/>
          </a:xfrm>
          <a:prstGeom prst="rect">
            <a:avLst/>
          </a:prstGeom>
          <a:solidFill>
            <a:srgbClr val="02C39A"/>
          </a:solidFill>
          <a:ln/>
        </p:spPr>
      </p:sp>
      <p:sp>
        <p:nvSpPr>
          <p:cNvPr id="6" name="Text 4"/>
          <p:cNvSpPr/>
          <p:nvPr/>
        </p:nvSpPr>
        <p:spPr>
          <a:xfrm>
            <a:off x="411480" y="914400"/>
            <a:ext cx="3749040" cy="457200"/>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Advantages</a:t>
            </a:r>
            <a:endParaRPr lang="en-US" sz="1500" dirty="0"/>
          </a:p>
        </p:txBody>
      </p:sp>
      <p:pic>
        <p:nvPicPr>
          <p:cNvPr id="7" name="Image 0" descr="preencoded.png"/>
          <p:cNvPicPr>
            <a:picLocks noChangeAspect="1"/>
          </p:cNvPicPr>
          <p:nvPr/>
        </p:nvPicPr>
        <p:blipFill>
          <a:blip r:embed="rId3"/>
          <a:stretch>
            <a:fillRect/>
          </a:stretch>
        </p:blipFill>
        <p:spPr>
          <a:xfrm>
            <a:off x="411480" y="1508760"/>
            <a:ext cx="292608" cy="292608"/>
          </a:xfrm>
          <a:prstGeom prst="rect">
            <a:avLst/>
          </a:prstGeom>
        </p:spPr>
      </p:pic>
      <p:sp>
        <p:nvSpPr>
          <p:cNvPr id="8" name="Text 5"/>
          <p:cNvSpPr/>
          <p:nvPr/>
        </p:nvSpPr>
        <p:spPr>
          <a:xfrm>
            <a:off x="777240" y="1490472"/>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Reduces early-year confusion for students</a:t>
            </a:r>
            <a:endParaRPr lang="en-US" sz="1200" dirty="0"/>
          </a:p>
        </p:txBody>
      </p:sp>
      <p:pic>
        <p:nvPicPr>
          <p:cNvPr id="9" name="Image 1" descr="preencoded.png"/>
          <p:cNvPicPr>
            <a:picLocks noChangeAspect="1"/>
          </p:cNvPicPr>
          <p:nvPr/>
        </p:nvPicPr>
        <p:blipFill>
          <a:blip r:embed="rId3"/>
          <a:stretch>
            <a:fillRect/>
          </a:stretch>
        </p:blipFill>
        <p:spPr>
          <a:xfrm>
            <a:off x="411480" y="2075688"/>
            <a:ext cx="292608" cy="292608"/>
          </a:xfrm>
          <a:prstGeom prst="rect">
            <a:avLst/>
          </a:prstGeom>
        </p:spPr>
      </p:pic>
      <p:sp>
        <p:nvSpPr>
          <p:cNvPr id="10" name="Text 6"/>
          <p:cNvSpPr/>
          <p:nvPr/>
        </p:nvSpPr>
        <p:spPr>
          <a:xfrm>
            <a:off x="777240" y="2057400"/>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Provides structured, personalized guidance</a:t>
            </a:r>
            <a:endParaRPr lang="en-US" sz="1200" dirty="0"/>
          </a:p>
        </p:txBody>
      </p:sp>
      <p:pic>
        <p:nvPicPr>
          <p:cNvPr id="11" name="Image 2" descr="preencoded.png"/>
          <p:cNvPicPr>
            <a:picLocks noChangeAspect="1"/>
          </p:cNvPicPr>
          <p:nvPr/>
        </p:nvPicPr>
        <p:blipFill>
          <a:blip r:embed="rId3"/>
          <a:stretch>
            <a:fillRect/>
          </a:stretch>
        </p:blipFill>
        <p:spPr>
          <a:xfrm>
            <a:off x="411480" y="2642616"/>
            <a:ext cx="292608" cy="292608"/>
          </a:xfrm>
          <a:prstGeom prst="rect">
            <a:avLst/>
          </a:prstGeom>
        </p:spPr>
      </p:pic>
      <p:sp>
        <p:nvSpPr>
          <p:cNvPr id="12" name="Text 7"/>
          <p:cNvSpPr/>
          <p:nvPr/>
        </p:nvSpPr>
        <p:spPr>
          <a:xfrm>
            <a:off x="777240" y="2624328"/>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Encourages consistent daily learning habits</a:t>
            </a:r>
            <a:endParaRPr lang="en-US" sz="1200" dirty="0"/>
          </a:p>
        </p:txBody>
      </p:sp>
      <p:pic>
        <p:nvPicPr>
          <p:cNvPr id="13" name="Image 3" descr="preencoded.png"/>
          <p:cNvPicPr>
            <a:picLocks noChangeAspect="1"/>
          </p:cNvPicPr>
          <p:nvPr/>
        </p:nvPicPr>
        <p:blipFill>
          <a:blip r:embed="rId3"/>
          <a:stretch>
            <a:fillRect/>
          </a:stretch>
        </p:blipFill>
        <p:spPr>
          <a:xfrm>
            <a:off x="411480" y="3209544"/>
            <a:ext cx="292608" cy="292608"/>
          </a:xfrm>
          <a:prstGeom prst="rect">
            <a:avLst/>
          </a:prstGeom>
        </p:spPr>
      </p:pic>
      <p:sp>
        <p:nvSpPr>
          <p:cNvPr id="14" name="Text 8"/>
          <p:cNvSpPr/>
          <p:nvPr/>
        </p:nvSpPr>
        <p:spPr>
          <a:xfrm>
            <a:off x="777240" y="3191256"/>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Focuses students on industry-relevant skills</a:t>
            </a:r>
            <a:endParaRPr lang="en-US" sz="1200" dirty="0"/>
          </a:p>
        </p:txBody>
      </p:sp>
      <p:pic>
        <p:nvPicPr>
          <p:cNvPr id="15" name="Image 4" descr="preencoded.png"/>
          <p:cNvPicPr>
            <a:picLocks noChangeAspect="1"/>
          </p:cNvPicPr>
          <p:nvPr/>
        </p:nvPicPr>
        <p:blipFill>
          <a:blip r:embed="rId3"/>
          <a:stretch>
            <a:fillRect/>
          </a:stretch>
        </p:blipFill>
        <p:spPr>
          <a:xfrm>
            <a:off x="411480" y="3776472"/>
            <a:ext cx="292608" cy="292608"/>
          </a:xfrm>
          <a:prstGeom prst="rect">
            <a:avLst/>
          </a:prstGeom>
        </p:spPr>
      </p:pic>
      <p:sp>
        <p:nvSpPr>
          <p:cNvPr id="16" name="Text 9"/>
          <p:cNvSpPr/>
          <p:nvPr/>
        </p:nvSpPr>
        <p:spPr>
          <a:xfrm>
            <a:off x="777240" y="3758184"/>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Tracks progress to keep students motivated</a:t>
            </a:r>
            <a:endParaRPr lang="en-US" sz="1200" dirty="0"/>
          </a:p>
        </p:txBody>
      </p:sp>
      <p:sp>
        <p:nvSpPr>
          <p:cNvPr id="17" name="Shape 10"/>
          <p:cNvSpPr/>
          <p:nvPr/>
        </p:nvSpPr>
        <p:spPr>
          <a:xfrm>
            <a:off x="4892040" y="914400"/>
            <a:ext cx="3977640" cy="3840480"/>
          </a:xfrm>
          <a:prstGeom prst="rect">
            <a:avLst/>
          </a:prstGeom>
          <a:solidFill>
            <a:srgbClr val="1C7293"/>
          </a:solidFill>
          <a:ln/>
          <a:effectLst>
            <a:outerShdw blurRad="101600" dist="38100" dir="8100000" algn="bl" rotWithShape="0">
              <a:srgbClr val="000000">
                <a:alpha val="12000"/>
              </a:srgbClr>
            </a:outerShdw>
          </a:effectLst>
        </p:spPr>
      </p:sp>
      <p:sp>
        <p:nvSpPr>
          <p:cNvPr id="18" name="Shape 11"/>
          <p:cNvSpPr/>
          <p:nvPr/>
        </p:nvSpPr>
        <p:spPr>
          <a:xfrm>
            <a:off x="4892040" y="914400"/>
            <a:ext cx="3977640" cy="457200"/>
          </a:xfrm>
          <a:prstGeom prst="rect">
            <a:avLst/>
          </a:prstGeom>
          <a:solidFill>
            <a:srgbClr val="0D1B2A"/>
          </a:solidFill>
          <a:ln/>
        </p:spPr>
      </p:sp>
      <p:sp>
        <p:nvSpPr>
          <p:cNvPr id="19" name="Text 12"/>
          <p:cNvSpPr/>
          <p:nvPr/>
        </p:nvSpPr>
        <p:spPr>
          <a:xfrm>
            <a:off x="5029200" y="914400"/>
            <a:ext cx="3749040" cy="457200"/>
          </a:xfrm>
          <a:prstGeom prst="rect">
            <a:avLst/>
          </a:prstGeom>
          <a:noFill/>
          <a:ln/>
        </p:spPr>
        <p:txBody>
          <a:bodyPr wrap="square" lIns="0" tIns="0" rIns="0" bIns="0"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Future Enhancements</a:t>
            </a:r>
            <a:endParaRPr lang="en-US" sz="1500" dirty="0"/>
          </a:p>
        </p:txBody>
      </p:sp>
      <p:pic>
        <p:nvPicPr>
          <p:cNvPr id="20" name="Image 5" descr="preencoded.png"/>
          <p:cNvPicPr>
            <a:picLocks noChangeAspect="1"/>
          </p:cNvPicPr>
          <p:nvPr/>
        </p:nvPicPr>
        <p:blipFill>
          <a:blip r:embed="rId4"/>
          <a:stretch>
            <a:fillRect/>
          </a:stretch>
        </p:blipFill>
        <p:spPr>
          <a:xfrm>
            <a:off x="5029200" y="1508760"/>
            <a:ext cx="292608" cy="292608"/>
          </a:xfrm>
          <a:prstGeom prst="rect">
            <a:avLst/>
          </a:prstGeom>
        </p:spPr>
      </p:pic>
      <p:sp>
        <p:nvSpPr>
          <p:cNvPr id="21" name="Text 13"/>
          <p:cNvSpPr/>
          <p:nvPr/>
        </p:nvSpPr>
        <p:spPr>
          <a:xfrm>
            <a:off x="5394960" y="1490472"/>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AI-based career recommendation engine</a:t>
            </a:r>
            <a:endParaRPr lang="en-US" sz="1200" dirty="0"/>
          </a:p>
        </p:txBody>
      </p:sp>
      <p:pic>
        <p:nvPicPr>
          <p:cNvPr id="22" name="Image 6" descr="preencoded.png"/>
          <p:cNvPicPr>
            <a:picLocks noChangeAspect="1"/>
          </p:cNvPicPr>
          <p:nvPr/>
        </p:nvPicPr>
        <p:blipFill>
          <a:blip r:embed="rId4"/>
          <a:stretch>
            <a:fillRect/>
          </a:stretch>
        </p:blipFill>
        <p:spPr>
          <a:xfrm>
            <a:off x="5029200" y="2075688"/>
            <a:ext cx="292608" cy="292608"/>
          </a:xfrm>
          <a:prstGeom prst="rect">
            <a:avLst/>
          </a:prstGeom>
        </p:spPr>
      </p:pic>
      <p:sp>
        <p:nvSpPr>
          <p:cNvPr id="23" name="Text 14"/>
          <p:cNvSpPr/>
          <p:nvPr/>
        </p:nvSpPr>
        <p:spPr>
          <a:xfrm>
            <a:off x="5394960" y="2057400"/>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Resume builder &amp; analysis tool</a:t>
            </a:r>
            <a:endParaRPr lang="en-US" sz="1200" dirty="0"/>
          </a:p>
        </p:txBody>
      </p:sp>
      <p:pic>
        <p:nvPicPr>
          <p:cNvPr id="24" name="Image 7" descr="preencoded.png"/>
          <p:cNvPicPr>
            <a:picLocks noChangeAspect="1"/>
          </p:cNvPicPr>
          <p:nvPr/>
        </p:nvPicPr>
        <p:blipFill>
          <a:blip r:embed="rId4"/>
          <a:stretch>
            <a:fillRect/>
          </a:stretch>
        </p:blipFill>
        <p:spPr>
          <a:xfrm>
            <a:off x="5029200" y="2642616"/>
            <a:ext cx="292608" cy="292608"/>
          </a:xfrm>
          <a:prstGeom prst="rect">
            <a:avLst/>
          </a:prstGeom>
        </p:spPr>
      </p:pic>
      <p:sp>
        <p:nvSpPr>
          <p:cNvPr id="25" name="Text 15"/>
          <p:cNvSpPr/>
          <p:nvPr/>
        </p:nvSpPr>
        <p:spPr>
          <a:xfrm>
            <a:off x="5394960" y="2624328"/>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Personalized internship recommendations</a:t>
            </a:r>
            <a:endParaRPr lang="en-US" sz="1200" dirty="0"/>
          </a:p>
        </p:txBody>
      </p:sp>
      <p:pic>
        <p:nvPicPr>
          <p:cNvPr id="26" name="Image 8" descr="preencoded.png"/>
          <p:cNvPicPr>
            <a:picLocks noChangeAspect="1"/>
          </p:cNvPicPr>
          <p:nvPr/>
        </p:nvPicPr>
        <p:blipFill>
          <a:blip r:embed="rId4"/>
          <a:stretch>
            <a:fillRect/>
          </a:stretch>
        </p:blipFill>
        <p:spPr>
          <a:xfrm>
            <a:off x="5029200" y="3209544"/>
            <a:ext cx="292608" cy="292608"/>
          </a:xfrm>
          <a:prstGeom prst="rect">
            <a:avLst/>
          </a:prstGeom>
        </p:spPr>
      </p:pic>
      <p:sp>
        <p:nvSpPr>
          <p:cNvPr id="27" name="Text 16"/>
          <p:cNvSpPr/>
          <p:nvPr/>
        </p:nvSpPr>
        <p:spPr>
          <a:xfrm>
            <a:off x="5394960" y="3191256"/>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Curated learning resource integration</a:t>
            </a:r>
            <a:endParaRPr lang="en-US" sz="1200" dirty="0"/>
          </a:p>
        </p:txBody>
      </p:sp>
      <p:pic>
        <p:nvPicPr>
          <p:cNvPr id="28" name="Image 9" descr="preencoded.png"/>
          <p:cNvPicPr>
            <a:picLocks noChangeAspect="1"/>
          </p:cNvPicPr>
          <p:nvPr/>
        </p:nvPicPr>
        <p:blipFill>
          <a:blip r:embed="rId4"/>
          <a:stretch>
            <a:fillRect/>
          </a:stretch>
        </p:blipFill>
        <p:spPr>
          <a:xfrm>
            <a:off x="5029200" y="3776472"/>
            <a:ext cx="292608" cy="292608"/>
          </a:xfrm>
          <a:prstGeom prst="rect">
            <a:avLst/>
          </a:prstGeom>
        </p:spPr>
      </p:pic>
      <p:sp>
        <p:nvSpPr>
          <p:cNvPr id="29" name="Text 17"/>
          <p:cNvSpPr/>
          <p:nvPr/>
        </p:nvSpPr>
        <p:spPr>
          <a:xfrm>
            <a:off x="5394960" y="3758184"/>
            <a:ext cx="333756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Student community &amp; mentorship network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1B2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C39A"/>
          </a:solidFill>
          <a:ln/>
        </p:spPr>
      </p:sp>
      <p:sp>
        <p:nvSpPr>
          <p:cNvPr id="3" name="Shape 1"/>
          <p:cNvSpPr/>
          <p:nvPr/>
        </p:nvSpPr>
        <p:spPr>
          <a:xfrm>
            <a:off x="6583680" y="-457200"/>
            <a:ext cx="3657600" cy="3657600"/>
          </a:xfrm>
          <a:prstGeom prst="ellipse">
            <a:avLst/>
          </a:prstGeom>
          <a:solidFill>
            <a:srgbClr val="065A82">
              <a:alpha val="50000"/>
            </a:srgbClr>
          </a:solidFill>
          <a:ln/>
        </p:spPr>
      </p:sp>
      <p:sp>
        <p:nvSpPr>
          <p:cNvPr id="4" name="Shape 2"/>
          <p:cNvSpPr/>
          <p:nvPr/>
        </p:nvSpPr>
        <p:spPr>
          <a:xfrm>
            <a:off x="7315200" y="182880"/>
            <a:ext cx="2011680" cy="2011680"/>
          </a:xfrm>
          <a:prstGeom prst="ellipse">
            <a:avLst/>
          </a:prstGeom>
          <a:solidFill>
            <a:srgbClr val="1C7293">
              <a:alpha val="40000"/>
            </a:srgbClr>
          </a:solidFill>
          <a:ln/>
        </p:spPr>
      </p:sp>
      <p:pic>
        <p:nvPicPr>
          <p:cNvPr id="5" name="Image 0" descr="preencoded.png"/>
          <p:cNvPicPr>
            <a:picLocks noChangeAspect="1"/>
          </p:cNvPicPr>
          <p:nvPr/>
        </p:nvPicPr>
        <p:blipFill>
          <a:blip r:embed="rId3"/>
          <a:stretch>
            <a:fillRect/>
          </a:stretch>
        </p:blipFill>
        <p:spPr>
          <a:xfrm>
            <a:off x="7772400" y="457200"/>
            <a:ext cx="1005840" cy="1005840"/>
          </a:xfrm>
          <a:prstGeom prst="rect">
            <a:avLst/>
          </a:prstGeom>
        </p:spPr>
      </p:pic>
      <p:sp>
        <p:nvSpPr>
          <p:cNvPr id="6" name="Text 3"/>
          <p:cNvSpPr/>
          <p:nvPr/>
        </p:nvSpPr>
        <p:spPr>
          <a:xfrm>
            <a:off x="365760" y="640080"/>
            <a:ext cx="64008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Conclusion</a:t>
            </a:r>
            <a:endParaRPr lang="en-US" sz="3800" dirty="0"/>
          </a:p>
        </p:txBody>
      </p:sp>
      <p:sp>
        <p:nvSpPr>
          <p:cNvPr id="7" name="Shape 4"/>
          <p:cNvSpPr/>
          <p:nvPr/>
        </p:nvSpPr>
        <p:spPr>
          <a:xfrm>
            <a:off x="365760" y="1463040"/>
            <a:ext cx="8412480" cy="1737360"/>
          </a:xfrm>
          <a:prstGeom prst="rect">
            <a:avLst/>
          </a:prstGeom>
          <a:solidFill>
            <a:srgbClr val="065A82"/>
          </a:solidFill>
          <a:ln/>
          <a:effectLst>
            <a:outerShdw blurRad="101600" dist="38100" dir="8100000" algn="bl" rotWithShape="0">
              <a:srgbClr val="000000">
                <a:alpha val="12000"/>
              </a:srgbClr>
            </a:outerShdw>
          </a:effectLst>
        </p:spPr>
      </p:sp>
      <p:sp>
        <p:nvSpPr>
          <p:cNvPr id="8" name="Text 5"/>
          <p:cNvSpPr/>
          <p:nvPr/>
        </p:nvSpPr>
        <p:spPr>
          <a:xfrm>
            <a:off x="548640" y="1554480"/>
            <a:ext cx="8046720" cy="155448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Tech Career Navigator is a career guidance system designed to assist technology students in making informed academic and professional decisions. By analyzing student data and generating personalized learning roadmaps, the platform helps students focus on the right subjects and skills required for successful IT careers.</a:t>
            </a:r>
            <a:endParaRPr lang="en-US" sz="1350" dirty="0"/>
          </a:p>
        </p:txBody>
      </p:sp>
      <p:sp>
        <p:nvSpPr>
          <p:cNvPr id="9" name="Shape 6"/>
          <p:cNvSpPr/>
          <p:nvPr/>
        </p:nvSpPr>
        <p:spPr>
          <a:xfrm>
            <a:off x="365760" y="3429000"/>
            <a:ext cx="2606040" cy="548640"/>
          </a:xfrm>
          <a:prstGeom prst="rect">
            <a:avLst/>
          </a:prstGeom>
          <a:solidFill>
            <a:srgbClr val="02C39A"/>
          </a:solidFill>
          <a:ln/>
          <a:effectLst>
            <a:outerShdw blurRad="101600" dist="38100" dir="8100000" algn="bl" rotWithShape="0">
              <a:srgbClr val="000000">
                <a:alpha val="12000"/>
              </a:srgbClr>
            </a:outerShdw>
          </a:effectLst>
        </p:spPr>
      </p:sp>
      <p:sp>
        <p:nvSpPr>
          <p:cNvPr id="10" name="Text 7"/>
          <p:cNvSpPr/>
          <p:nvPr/>
        </p:nvSpPr>
        <p:spPr>
          <a:xfrm>
            <a:off x="365760" y="3429000"/>
            <a:ext cx="2606040" cy="5486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Personalized Roadmaps</a:t>
            </a:r>
            <a:endParaRPr lang="en-US" sz="1300" dirty="0"/>
          </a:p>
        </p:txBody>
      </p:sp>
      <p:sp>
        <p:nvSpPr>
          <p:cNvPr id="11" name="Shape 8"/>
          <p:cNvSpPr/>
          <p:nvPr/>
        </p:nvSpPr>
        <p:spPr>
          <a:xfrm>
            <a:off x="3200400" y="3429000"/>
            <a:ext cx="2606040" cy="548640"/>
          </a:xfrm>
          <a:prstGeom prst="rect">
            <a:avLst/>
          </a:prstGeom>
          <a:solidFill>
            <a:srgbClr val="02C39A"/>
          </a:solidFill>
          <a:ln/>
          <a:effectLst>
            <a:outerShdw blurRad="101600" dist="38100" dir="8100000" algn="bl" rotWithShape="0">
              <a:srgbClr val="000000">
                <a:alpha val="12000"/>
              </a:srgbClr>
            </a:outerShdw>
          </a:effectLst>
        </p:spPr>
      </p:sp>
      <p:sp>
        <p:nvSpPr>
          <p:cNvPr id="12" name="Text 9"/>
          <p:cNvSpPr/>
          <p:nvPr/>
        </p:nvSpPr>
        <p:spPr>
          <a:xfrm>
            <a:off x="3200400" y="3429000"/>
            <a:ext cx="2606040" cy="5486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Industry-Ready Skills</a:t>
            </a:r>
            <a:endParaRPr lang="en-US" sz="1300" dirty="0"/>
          </a:p>
        </p:txBody>
      </p:sp>
      <p:sp>
        <p:nvSpPr>
          <p:cNvPr id="13" name="Shape 10"/>
          <p:cNvSpPr/>
          <p:nvPr/>
        </p:nvSpPr>
        <p:spPr>
          <a:xfrm>
            <a:off x="6035040" y="3429000"/>
            <a:ext cx="2606040" cy="548640"/>
          </a:xfrm>
          <a:prstGeom prst="rect">
            <a:avLst/>
          </a:prstGeom>
          <a:solidFill>
            <a:srgbClr val="02C39A"/>
          </a:solidFill>
          <a:ln/>
          <a:effectLst>
            <a:outerShdw blurRad="101600" dist="38100" dir="8100000" algn="bl" rotWithShape="0">
              <a:srgbClr val="000000">
                <a:alpha val="12000"/>
              </a:srgbClr>
            </a:outerShdw>
          </a:effectLst>
        </p:spPr>
      </p:sp>
      <p:sp>
        <p:nvSpPr>
          <p:cNvPr id="14" name="Text 11"/>
          <p:cNvSpPr/>
          <p:nvPr/>
        </p:nvSpPr>
        <p:spPr>
          <a:xfrm>
            <a:off x="6035040" y="3429000"/>
            <a:ext cx="2606040" cy="5486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Structured Career Guidance</a:t>
            </a:r>
            <a:endParaRPr lang="en-US" sz="1300" dirty="0"/>
          </a:p>
        </p:txBody>
      </p:sp>
      <p:sp>
        <p:nvSpPr>
          <p:cNvPr id="15" name="Text 12"/>
          <p:cNvSpPr/>
          <p:nvPr/>
        </p:nvSpPr>
        <p:spPr>
          <a:xfrm>
            <a:off x="365760" y="4480560"/>
            <a:ext cx="84124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Tech Career Navigator  ·  Career Guidance &amp; Roadmap System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761</Words>
  <Application>Microsoft Office PowerPoint</Application>
  <PresentationFormat>On-screen Show (16:9)</PresentationFormat>
  <Paragraphs>186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Career Navigator</dc:title>
  <dc:subject>PptxGenJS Presentation</dc:subject>
  <dc:creator>PptxGenJS</dc:creator>
  <cp:lastModifiedBy>Sauraf Kumar</cp:lastModifiedBy>
  <cp:revision>2</cp:revision>
  <dcterms:created xsi:type="dcterms:W3CDTF">2026-03-07T05:03:02Z</dcterms:created>
  <dcterms:modified xsi:type="dcterms:W3CDTF">2026-03-07T05:50:30Z</dcterms:modified>
</cp:coreProperties>
</file>